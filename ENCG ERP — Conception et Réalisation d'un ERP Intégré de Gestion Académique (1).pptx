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Saluer le jury et présenter l'organisme d'accueil ENCG Fès / USMBA.
- Annoncer le sujet PFE : ERP intégré de gestion académique.
- Souligner les 3 piliers : découplage Laravel/React, IA Gemini, conformité marocaine.
- Annoncer le plan en 4 chapitres.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Annoncer les 4 chapitres du rapport.
- Insister sur la logique : cadre → besoins → conception → réalisation.
- Durée totale ≈ 15 min, questions à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Dresser le constat de l'existant : procédures manuelles hétérogènes.
- Énumérer les 5 dysfonctionnements majeurs.
- Souligner le risque conformité réglementaire (CNDP/CGI).
- Énoncer la problématique centrale du PFE.
- Annoncer les objectifs au slide suivant.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Présenter les 5 objectifs O1 → O5.
- Insister sur O3 sécurité/conformité (point différenciant).
- Mentionner O4 IA Gemini 1.5 Flash.
- Justifier le choix du développement sur mesure vs open-source.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Démarche Scrum par sprints (12 sprints au total).
- Stack découplée moderne : Laravel 12 + React 19.
- Mentionner les 9 conteneurs Docker.
- Tests automatisés Pest/Vitest/Playwright + CI/CD GitHub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Architecture strictement découplée API REST + SPA.
- 6 couches : présentation → proxy → contrôleurs → sécurité → persistance → PDF/events.
- Temps réel via Reverb (WebSockets).
- Async via Horizon (queues Redis).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- 9 conteneurs Docker orchestrent la plateforme.
- Cœur : Nginx + Laravel + React + PostgreSQL + Redis.
- CI/CD GitHub Actions 3 jobs parallèles.
- Déploiement reproductible dev/staging/prod.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Schéma PostgreSQL 16 : 134 tables réparties sur 17 domaines métier.
- 98 modèles Eloquent et 115 migrations encadrent le tout.
- Index composites pour délibérations rapides et jointures massives.
- Recherche plein texte GIN pour la recherche globale Ctrl+K.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Moteur de délibération conforme aux normes MESRSFC/APOGEE.
- Formule : 0,40×CC + 0,60×Examen ; seuil éliminatoire strict &lt; 7/20.
- 5 décisions gérées : V, NV, RAT, VR, VARC.
- Fraude : fige l'examen à 00 mais préserve la saisie des CC.
- Tests BVA (Boundary Value Analysis) autour des seuils critiques 7.00 et 10.00.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Deux moteurs métier complémentaires couvrent salles et examens.
- Smart Room Finder : 5 étapes, Fit-Score Smallest-Fit, 78 tests fonctionnels.
- ExamPlanningEngine : équité mathématique stricte, |w_i − w_j| ≤ 1.
- Solveur CSP avec heuristiques MRV–Degree–LCV et contraintes dures 100 %.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Pipeline TAFEM en 5 étapes, dont l'OCR hybride Gemini 1.5 Flash Vision + Tesseract.
- Triple concordance CNE / CIN / Bac pour sécuriser l'admission.
- Gain : 10 min → 2 sec par dossier, soit ×300 plus rapide.
- Score de confiance IA et alerte automatique de doublon ou falsification.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Émargement : 3 modes (trombinoscope tactile, QR rotatif, dictée vocale).
- Anti-fraude : token 15 s + GPS + verrouillage appareil.
- Seuil éliminatoire Art. 14 : 2 absences = alerte, ≥3 = exclusion.
- Synchronisation automatique du cahier de texte, latence &lt; 12 ms sur 50 000 lignes.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Workflow guichet en 5 étapes, de la demande étudiant à la vérification publique.
- Sceau SHA-256 + QR code rendent le document infalsifiable.
- Ségrégation RH : vacataires ne peuvent pas demander attestation travail/salaire (CGI Art. 73-II-F).
- Paie vacataires : Brut − 17 % IGR = Net.
- Vérification publique zero-trust, conformité Loi 53-05.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Défense en profondeur 3 paliers : Middleware → Policy → Scope métier.
 - Audit forensique chaîné Merkle (inviolable via SHA-256).
 - Conformité CNDP Loi 09-08 : consentement, DSAR, stripping, registre.
 - Loi 53-05 (sceau électronique HMAC) + CGI 73-II-F (IGR 17 %).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- 4 piliers du Copilote enseignant basés sur Gemini 1.5 Flash.
 - Tuteur RAG étudiant : réponses citées, anti-hallucination.
 - Générateur d'épreuves avec études de cas marocaines (OCP, Attijariwafa).
 - Souveraineté : stripping identifiants (CIN, noms) avant envoi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Pyramide de tests ISTQB : unitaires → fonctionnels → E2E.
 - 142 suites backend + 17 frontend + 8 E2E = 543+ assertions 100 % Green.
 - CI/CD GitHub Actions 3 jobs : backend / frontend / security.
 - BVA autour des seuils critiques 7.00 et 10.00.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Bilan : 5 objectifs O1-O5 tous atteints (centralisation, automatisation, sécurité, IA, qualité).
 - Perspectives : application mobile, signature qualifiée, Big Data MESRSFC, multi-tenant, IA avancée.
 - Remercier le jury et l'encadrant (Pr. El Amrani).
 - Ouvrir la session de questions et de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14375"/>
            <a:ext cx="10657503" cy="397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0"/>
              </a:lnSpc>
              <a:buNone/>
            </a:pPr>
            <a:r>
              <a:rPr lang="en-US" sz="29250" b="1" spc="-1170" kern="0" dirty="0">
                <a:solidFill>
                  <a:srgbClr val="C9A063">
                    <a:alpha val="1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ENCG</a:t>
            </a:r>
            <a:endParaRPr lang="en-US" sz="29250" dirty="0"/>
          </a:p>
        </p:txBody>
      </p:sp>
      <p:sp>
        <p:nvSpPr>
          <p:cNvPr id="4" name="Text 2"/>
          <p:cNvSpPr/>
          <p:nvPr/>
        </p:nvSpPr>
        <p:spPr>
          <a:xfrm>
            <a:off x="7824304" y="285750"/>
            <a:ext cx="748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SOUTENANCE PFE</a:t>
            </a:r>
            <a:endParaRPr lang="en-US" sz="800" dirty="0"/>
          </a:p>
          <a:p>
            <a:pPr algn="r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 —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71500" y="164607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71500" y="4192042"/>
            <a:ext cx="8001000" cy="0"/>
          </a:xfrm>
          <a:prstGeom prst="line">
            <a:avLst/>
          </a:prstGeom>
          <a:noFill/>
          <a:ln w="7144">
            <a:solidFill>
              <a:srgbClr val="C9A0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34891" y="4324201"/>
            <a:ext cx="0" cy="419249"/>
          </a:xfrm>
          <a:prstGeom prst="line">
            <a:avLst/>
          </a:prstGeom>
          <a:noFill/>
          <a:ln w="7144">
            <a:solidFill>
              <a:srgbClr val="C9A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4324201"/>
            <a:ext cx="248836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RÉALISÉ PAR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1500" y="4474220"/>
            <a:ext cx="248836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[Nom Prénom]</a:t>
            </a:r>
            <a:endParaRPr lang="en-US" sz="80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47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Étudiant·e PFE — ENCG Fès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01854" y="4324201"/>
            <a:ext cx="0" cy="419249"/>
          </a:xfrm>
          <a:prstGeom prst="line">
            <a:avLst/>
          </a:prstGeom>
          <a:noFill/>
          <a:ln w="7144">
            <a:solidFill>
              <a:srgbClr val="C9A0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9913" y="4324201"/>
            <a:ext cx="231691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ENCADRANTS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09913" y="4474220"/>
            <a:ext cx="231691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Pédagogique · Professionnel</a:t>
            </a:r>
            <a:endParaRPr lang="en-US" sz="80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47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Encadrement dual universitaire / terrain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6876" y="4324201"/>
            <a:ext cx="249562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6876" y="4474220"/>
            <a:ext cx="24956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ENCG Fès — USMBA</a:t>
            </a:r>
            <a:endParaRPr lang="en-US" sz="800" dirty="0"/>
          </a:p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47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Fès, Maroc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" y="1874676"/>
            <a:ext cx="6429375" cy="131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925" b="1" spc="-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Conception et Réalisation d'un ERP Intégré de Gestion Académique pour l'ENCG Fès</a:t>
            </a:r>
            <a:endParaRPr lang="en-US" sz="2925" dirty="0"/>
          </a:p>
        </p:txBody>
      </p:sp>
      <p:sp>
        <p:nvSpPr>
          <p:cNvPr id="16" name="Text 14"/>
          <p:cNvSpPr/>
          <p:nvPr/>
        </p:nvSpPr>
        <p:spPr>
          <a:xfrm>
            <a:off x="571500" y="3214576"/>
            <a:ext cx="6286500" cy="412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découplée Laravel 12 / React 19, Intelligence Artificielle Gemini 1.5 et conformité LMD, CNDP &amp; CGI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571500" y="3854611"/>
            <a:ext cx="2424633" cy="242888"/>
          </a:xfrm>
          <a:prstGeom prst="roundRect">
            <a:avLst>
              <a:gd name="adj" fmla="val 3917639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7250" y="3926049"/>
            <a:ext cx="2010296" cy="128016"/>
          </a:xfrm>
          <a:prstGeom prst="rect">
            <a:avLst/>
          </a:prstGeom>
          <a:noFill/>
          <a:ln/>
        </p:spPr>
        <p:txBody>
          <a:bodyPr wrap="square" lIns="128588" tIns="57150" rIns="128588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95" kern="0" dirty="0">
                <a:solidFill>
                  <a:srgbClr val="001A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PROJET DE FIN D'ÉTUDES · 2025–2026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700088" y="392604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01A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984" dirty="0"/>
          </a:p>
        </p:txBody>
      </p:sp>
      <p:sp>
        <p:nvSpPr>
          <p:cNvPr id="20" name="Text 18"/>
          <p:cNvSpPr/>
          <p:nvPr/>
        </p:nvSpPr>
        <p:spPr>
          <a:xfrm>
            <a:off x="575072" y="1049573"/>
            <a:ext cx="2214451" cy="435769"/>
          </a:xfrm>
          <a:prstGeom prst="roundRect">
            <a:avLst>
              <a:gd name="adj" fmla="val 1748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C9A06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/tmp/h2p-fit-1790069970188-hm6tgj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635794" y="1110295"/>
            <a:ext cx="857250" cy="3143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78769" y="1162869"/>
            <a:ext cx="1173600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600" spc="81" kern="0" dirty="0">
                <a:solidFill>
                  <a:srgbClr val="C9A06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ÉTABLISSEMENT DE FORMATION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578769" y="1260649"/>
            <a:ext cx="1107170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spc="1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Université Privée de Fès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2964545" y="1149586"/>
            <a:ext cx="12948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C9A063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1238" dirty="0"/>
          </a:p>
        </p:txBody>
      </p:sp>
      <p:sp>
        <p:nvSpPr>
          <p:cNvPr id="25" name="Text 22"/>
          <p:cNvSpPr/>
          <p:nvPr/>
        </p:nvSpPr>
        <p:spPr>
          <a:xfrm>
            <a:off x="3183322" y="1049573"/>
            <a:ext cx="2405993" cy="435769"/>
          </a:xfrm>
          <a:prstGeom prst="roundRect">
            <a:avLst>
              <a:gd name="adj" fmla="val 1748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C9A06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1" descr="/tmp/h2p-fit-1790069970095-sj7wrk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3244044" y="1110295"/>
            <a:ext cx="857250" cy="31432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187019" y="1162869"/>
            <a:ext cx="1376634" cy="142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8"/>
              </a:lnSpc>
              <a:buNone/>
            </a:pPr>
            <a:r>
              <a:rPr lang="en-US" sz="600" spc="81" kern="0" dirty="0">
                <a:solidFill>
                  <a:srgbClr val="C9A06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ORGANISME D'ACCUEIL · STAGE PFE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4187019" y="1260649"/>
            <a:ext cx="1298711" cy="142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spc="1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ENCG Fès — USMBA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8264"/>
            <a:ext cx="22898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DE LA PRÉSENTATION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1861"/>
            <a:ext cx="210983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25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Sommaire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57200" y="103182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52589" y="774762"/>
            <a:ext cx="1534211" cy="1325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00" b="1" spc="47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CHAPITRES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00258" y="934715"/>
            <a:ext cx="1486542" cy="17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619" spc="74" kern="0" dirty="0">
                <a:solidFill>
                  <a:srgbClr val="8C9AA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SOUTENANCE PFE · 17 SLIDES</a:t>
            </a:r>
            <a:endParaRPr lang="en-US" sz="619" dirty="0"/>
          </a:p>
        </p:txBody>
      </p:sp>
      <p:sp>
        <p:nvSpPr>
          <p:cNvPr id="7" name="Text 5"/>
          <p:cNvSpPr/>
          <p:nvPr/>
        </p:nvSpPr>
        <p:spPr>
          <a:xfrm>
            <a:off x="457200" y="1260425"/>
            <a:ext cx="4036219" cy="1587922"/>
          </a:xfrm>
          <a:prstGeom prst="roundRect">
            <a:avLst>
              <a:gd name="adj" fmla="val 59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271141"/>
            <a:ext cx="403621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9847" y="1260425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44775"/>
            <a:ext cx="403621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772" y="1260425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551" y="1339007"/>
            <a:ext cx="10362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180" kern="0" dirty="0">
                <a:solidFill>
                  <a:srgbClr val="C9A063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4650581" y="1260425"/>
            <a:ext cx="4036219" cy="1587922"/>
          </a:xfrm>
          <a:prstGeom prst="roundRect">
            <a:avLst>
              <a:gd name="adj" fmla="val 59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50581" y="1271141"/>
            <a:ext cx="403621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3228" y="1260425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0581" y="2844775"/>
            <a:ext cx="403621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153" y="1260425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5933" y="1339007"/>
            <a:ext cx="10362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180" kern="0" dirty="0">
                <a:solidFill>
                  <a:srgbClr val="C9A063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457200" y="3005510"/>
            <a:ext cx="4036219" cy="1587922"/>
          </a:xfrm>
          <a:prstGeom prst="roundRect">
            <a:avLst>
              <a:gd name="adj" fmla="val 59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200" y="3016225"/>
            <a:ext cx="403621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9847" y="3005510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589859"/>
            <a:ext cx="403621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772" y="3005510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551" y="3084091"/>
            <a:ext cx="10362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180" kern="0" dirty="0">
                <a:solidFill>
                  <a:srgbClr val="C9A063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4650581" y="3005510"/>
            <a:ext cx="4036219" cy="1587922"/>
          </a:xfrm>
          <a:prstGeom prst="roundRect">
            <a:avLst>
              <a:gd name="adj" fmla="val 59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0581" y="3016225"/>
            <a:ext cx="403621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3228" y="3005510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50581" y="4589859"/>
            <a:ext cx="403621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153" y="3005510"/>
            <a:ext cx="0" cy="15879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5933" y="3084091"/>
            <a:ext cx="103624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180" kern="0" dirty="0">
                <a:solidFill>
                  <a:srgbClr val="C9A063">
                    <a:alpha val="2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4500" dirty="0"/>
          </a:p>
        </p:txBody>
      </p:sp>
      <p:sp>
        <p:nvSpPr>
          <p:cNvPr id="31" name="Text 29"/>
          <p:cNvSpPr/>
          <p:nvPr/>
        </p:nvSpPr>
        <p:spPr>
          <a:xfrm>
            <a:off x="0" y="4693444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C9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SOUTENANCE PFE · 17 SLIDES · ≈ 15 MINUTES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86631" y="1443448"/>
            <a:ext cx="722479" cy="184023"/>
          </a:xfrm>
          <a:prstGeom prst="roundRect">
            <a:avLst>
              <a:gd name="adj" fmla="val 5170807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92606" y="1453307"/>
            <a:ext cx="7105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A5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PAGES 1 —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4369" y="1789063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6157" y="181085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664369" y="2146250"/>
            <a:ext cx="3621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Cadre Général du Projet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64369" y="2381994"/>
            <a:ext cx="36218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Organisme, problématique, objectifs, méthodologie, outils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80013" y="1443448"/>
            <a:ext cx="722479" cy="184023"/>
          </a:xfrm>
          <a:prstGeom prst="roundRect">
            <a:avLst>
              <a:gd name="adj" fmla="val 5170807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785987" y="1453307"/>
            <a:ext cx="7105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A5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PAGES 4 — 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57750" y="1789063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79538" y="181085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547" dirty="0"/>
          </a:p>
        </p:txBody>
      </p:sp>
      <p:sp>
        <p:nvSpPr>
          <p:cNvPr id="42" name="Text 40"/>
          <p:cNvSpPr/>
          <p:nvPr/>
        </p:nvSpPr>
        <p:spPr>
          <a:xfrm>
            <a:off x="4857750" y="2146250"/>
            <a:ext cx="373160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Étude &amp; Analyse des Besoins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4857750" y="2381994"/>
            <a:ext cx="36218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Besoins fonctionnels (BF1–BF25), non-fonctionnels, UML, traçabilité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3539750" y="3188532"/>
            <a:ext cx="769360" cy="184023"/>
          </a:xfrm>
          <a:prstGeom prst="roundRect">
            <a:avLst>
              <a:gd name="adj" fmla="val 5170807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532000" y="3198391"/>
            <a:ext cx="78486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A5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PAGES 8 —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4369" y="3534147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6157" y="355593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8" name="Text 46"/>
          <p:cNvSpPr/>
          <p:nvPr/>
        </p:nvSpPr>
        <p:spPr>
          <a:xfrm>
            <a:off x="664369" y="3891335"/>
            <a:ext cx="36218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Conception du Système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664369" y="4127078"/>
            <a:ext cx="36218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Architecture, Docker, modèle de données, moteurs métier, sécurité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86251" y="3188532"/>
            <a:ext cx="816240" cy="184023"/>
          </a:xfrm>
          <a:prstGeom prst="roundRect">
            <a:avLst>
              <a:gd name="adj" fmla="val 5170807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664776" y="3198391"/>
            <a:ext cx="8591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A5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PAGES 13 — 17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57750" y="3534147"/>
            <a:ext cx="271463" cy="271463"/>
          </a:xfrm>
          <a:prstGeom prst="roundRect">
            <a:avLst>
              <a:gd name="adj" fmla="val 28070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79538" y="355593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54" name="Text 52"/>
          <p:cNvSpPr/>
          <p:nvPr/>
        </p:nvSpPr>
        <p:spPr>
          <a:xfrm>
            <a:off x="4857750" y="3891335"/>
            <a:ext cx="373160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Réalisation &amp; Mise en Œuvre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4857750" y="4127078"/>
            <a:ext cx="36218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TAFEM/OCR, examens, émargement QR, guichet, IA, tests, CI/CD</a:t>
            </a:r>
            <a:endParaRPr lang="en-US" sz="800" dirty="0"/>
          </a:p>
        </p:txBody>
      </p:sp>
      <p:pic>
        <p:nvPicPr>
          <p:cNvPr id="56" name="Image 0" descr="/tmp/h2p-fit-1790069970201-j5g8u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1" descr="/tmp/h2p-fit-1790069970096-jwv0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1114"/>
            <a:ext cx="20647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1 · CONTEXTE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58986"/>
            <a:ext cx="5506949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Problématique de l'existant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50" y="796082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924669"/>
            <a:ext cx="500631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gestion académique de l'ENCG Fès reposait sur un ensemble de procédures hétérogènes : fichiers Excel isolés, documents papier, échanges par email non tracés et outils non interconnectés.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1334542"/>
            <a:ext cx="5006318" cy="328613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338114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02796" y="1334542"/>
            <a:ext cx="0" cy="328613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050" y="1659582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338" y="1334542"/>
            <a:ext cx="0" cy="328613"/>
          </a:xfrm>
          <a:prstGeom prst="line">
            <a:avLst/>
          </a:prstGeom>
          <a:noFill/>
          <a:ln w="28575">
            <a:solidFill>
              <a:srgbClr val="B8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638" y="1413123"/>
            <a:ext cx="171450" cy="171450"/>
          </a:xfrm>
          <a:prstGeom prst="ellipse">
            <a:avLst/>
          </a:prstGeom>
          <a:solidFill>
            <a:srgbClr val="FCEA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638" y="14131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B832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4388" y="1436340"/>
            <a:ext cx="448482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Délivrances manuelles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erreurs LMD difficiles à détecter (V/RAT/NV/VARC)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0050" y="1720304"/>
            <a:ext cx="5006318" cy="328613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1723876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02796" y="1720304"/>
            <a:ext cx="0" cy="328613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050" y="2045345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338" y="1720304"/>
            <a:ext cx="0" cy="328613"/>
          </a:xfrm>
          <a:prstGeom prst="line">
            <a:avLst/>
          </a:prstGeom>
          <a:noFill/>
          <a:ln w="28575">
            <a:solidFill>
              <a:srgbClr val="B832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638" y="1798886"/>
            <a:ext cx="171450" cy="171450"/>
          </a:xfrm>
          <a:prstGeom prst="ellipse">
            <a:avLst/>
          </a:prstGeom>
          <a:solidFill>
            <a:srgbClr val="FCEA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8638" y="179888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B832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4388" y="1822103"/>
            <a:ext cx="448482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Planification conflictuelle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collisions EDT, salles, double-affectation enseignants</a:t>
            </a:r>
            <a:endParaRPr lang="en-US" sz="703" dirty="0"/>
          </a:p>
        </p:txBody>
      </p:sp>
      <p:sp>
        <p:nvSpPr>
          <p:cNvPr id="22" name="Text 20"/>
          <p:cNvSpPr/>
          <p:nvPr/>
        </p:nvSpPr>
        <p:spPr>
          <a:xfrm>
            <a:off x="400050" y="2106067"/>
            <a:ext cx="5006318" cy="328613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2109639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02796" y="2106067"/>
            <a:ext cx="0" cy="328613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" y="2431107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4338" y="2106067"/>
            <a:ext cx="0" cy="328613"/>
          </a:xfrm>
          <a:prstGeom prst="line">
            <a:avLst/>
          </a:prstGeom>
          <a:noFill/>
          <a:ln w="28575">
            <a:solidFill>
              <a:srgbClr val="B832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638" y="2184648"/>
            <a:ext cx="171450" cy="171450"/>
          </a:xfrm>
          <a:prstGeom prst="ellipse">
            <a:avLst/>
          </a:prstGeom>
          <a:solidFill>
            <a:srgbClr val="FCEA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8638" y="218464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B832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4388" y="2207865"/>
            <a:ext cx="448482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Documents non tracés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attestations papier vulnérables à la falsification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0050" y="2491829"/>
            <a:ext cx="5006318" cy="328613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00050" y="2495401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02796" y="2491829"/>
            <a:ext cx="0" cy="328613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0050" y="2816870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4338" y="2491829"/>
            <a:ext cx="0" cy="328613"/>
          </a:xfrm>
          <a:prstGeom prst="line">
            <a:avLst/>
          </a:prstGeom>
          <a:noFill/>
          <a:ln w="28575">
            <a:solidFill>
              <a:srgbClr val="B832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638" y="2570411"/>
            <a:ext cx="171450" cy="171450"/>
          </a:xfrm>
          <a:prstGeom prst="ellipse">
            <a:avLst/>
          </a:prstGeom>
          <a:solidFill>
            <a:srgbClr val="FCEA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8638" y="257041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B832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4388" y="2593628"/>
            <a:ext cx="448482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Lourdeur administrative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guichet physique, double saisie émargement/cahier de texte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400050" y="2877592"/>
            <a:ext cx="5006318" cy="328613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00050" y="2881164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02796" y="2877592"/>
            <a:ext cx="0" cy="328613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0050" y="3202632"/>
            <a:ext cx="5006318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4338" y="2877592"/>
            <a:ext cx="0" cy="328613"/>
          </a:xfrm>
          <a:prstGeom prst="line">
            <a:avLst/>
          </a:prstGeom>
          <a:noFill/>
          <a:ln w="28575">
            <a:solidFill>
              <a:srgbClr val="B832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638" y="2956173"/>
            <a:ext cx="171450" cy="171450"/>
          </a:xfrm>
          <a:prstGeom prst="ellipse">
            <a:avLst/>
          </a:prstGeom>
          <a:solidFill>
            <a:srgbClr val="FCEA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8638" y="29561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B832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4388" y="2979390"/>
            <a:ext cx="448482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Non-conformité</a:t>
            </a:r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Loi 09-08 CNDP, Loi 53-05, CGI Art. 73-II-F (IGR 17 %) non couvertes</a:t>
            </a:r>
            <a:endParaRPr lang="en-US" sz="703" dirty="0"/>
          </a:p>
        </p:txBody>
      </p:sp>
      <p:sp>
        <p:nvSpPr>
          <p:cNvPr id="46" name="Text 44"/>
          <p:cNvSpPr/>
          <p:nvPr/>
        </p:nvSpPr>
        <p:spPr>
          <a:xfrm>
            <a:off x="5609965" y="289322"/>
            <a:ext cx="3330327" cy="4593431"/>
          </a:xfrm>
          <a:prstGeom prst="roundRect">
            <a:avLst>
              <a:gd name="adj" fmla="val 3432"/>
            </a:avLst>
          </a:prstGeom>
          <a:solidFill>
            <a:srgbClr val="F4F7FB"/>
          </a:solidFill>
          <a:ln w="7144">
            <a:solidFill>
              <a:srgbClr val="E1E7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84986" y="450056"/>
            <a:ext cx="298028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PROBLÉMATIQUE CENTRALE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84986" y="625078"/>
            <a:ext cx="2980283" cy="1006840"/>
          </a:xfrm>
          <a:prstGeom prst="rect">
            <a:avLst/>
          </a:prstGeom>
          <a:noFill/>
          <a:ln/>
        </p:spPr>
        <p:txBody>
          <a:bodyPr wrap="square" lIns="100013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i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Comment concevoir et réaliser une plateforme unifiée, sécurisée et conforme aux normes académiques marocaines, capable d'automatiser l'ensemble du cycle de vie de l'étudiant — de l'admission TAFEM jusqu'au diplôme certifié — tout en garantissant l'intégrité, la traçabilité et la disponibilité des données ? »</a:t>
            </a:r>
            <a:endParaRPr lang="en-US" sz="844" dirty="0"/>
          </a:p>
        </p:txBody>
      </p:sp>
      <p:sp>
        <p:nvSpPr>
          <p:cNvPr id="49" name="Shape 47"/>
          <p:cNvSpPr/>
          <p:nvPr/>
        </p:nvSpPr>
        <p:spPr>
          <a:xfrm>
            <a:off x="5784986" y="3405560"/>
            <a:ext cx="2980283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84986" y="3523431"/>
            <a:ext cx="1123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 4 000</a:t>
            </a:r>
            <a:endParaRPr lang="en-US" sz="1688" dirty="0"/>
          </a:p>
        </p:txBody>
      </p:sp>
      <p:sp>
        <p:nvSpPr>
          <p:cNvPr id="51" name="Text 49"/>
          <p:cNvSpPr/>
          <p:nvPr/>
        </p:nvSpPr>
        <p:spPr>
          <a:xfrm>
            <a:off x="6670811" y="3616300"/>
            <a:ext cx="209445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étudiants concernés</a:t>
            </a:r>
            <a:endParaRPr lang="en-US" sz="800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semestres S1 — S10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33330" y="3956298"/>
            <a:ext cx="133692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filières</a:t>
            </a:r>
            <a:endParaRPr lang="en-US" sz="1688" dirty="0"/>
          </a:p>
        </p:txBody>
      </p:sp>
      <p:sp>
        <p:nvSpPr>
          <p:cNvPr id="53" name="Text 51"/>
          <p:cNvSpPr/>
          <p:nvPr/>
        </p:nvSpPr>
        <p:spPr>
          <a:xfrm>
            <a:off x="6711888" y="4049167"/>
            <a:ext cx="2053382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GFC · MCM · ACG</a:t>
            </a:r>
            <a:endParaRPr lang="en-US" sz="800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GRH · MACI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784986" y="4389165"/>
            <a:ext cx="1123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sem.</a:t>
            </a:r>
            <a:endParaRPr lang="en-US" sz="1688" dirty="0"/>
          </a:p>
        </p:txBody>
      </p:sp>
      <p:sp>
        <p:nvSpPr>
          <p:cNvPr id="55" name="Text 53"/>
          <p:cNvSpPr/>
          <p:nvPr/>
        </p:nvSpPr>
        <p:spPr>
          <a:xfrm>
            <a:off x="6670811" y="4482033"/>
            <a:ext cx="209445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cycle LMD complet</a:t>
            </a:r>
            <a:endParaRPr lang="en-US" sz="800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Tronc Commun + Spécialisation</a:t>
            </a:r>
            <a:endParaRPr lang="en-US" sz="800" dirty="0"/>
          </a:p>
        </p:txBody>
      </p:sp>
      <p:pic>
        <p:nvPicPr>
          <p:cNvPr id="56" name="Image 0" descr="/tmp/h2p-fit-1790069970107-ssm6k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1" descr="/tmp/h2p-fit-1790069969950-gmkd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57175"/>
            <a:ext cx="86360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1 · OBJECTIFS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375047"/>
            <a:ext cx="8636000" cy="27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objectifs structurants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50" y="69785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812155"/>
            <a:ext cx="64293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retenue :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développement sur mesure — couverture exacte des processus, conformité native, maîtrise totale de la sécurité.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403622" y="1055043"/>
            <a:ext cx="8336756" cy="521494"/>
          </a:xfrm>
          <a:prstGeom prst="roundRect">
            <a:avLst>
              <a:gd name="adj" fmla="val 18265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2919" y="1144339"/>
            <a:ext cx="342900" cy="34290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57150" dist="19050" dir="5400000">
              <a:srgbClr val="C9A063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919" y="114433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O1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064419" y="1182179"/>
            <a:ext cx="7329488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Centralisation multi-rôles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1064419" y="1325054"/>
            <a:ext cx="678656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Plateforme unique couvrant admissions, scolarité, notes, délibérations, examens, stages et documents (12 rôles RBAC).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46105" y="1215777"/>
            <a:ext cx="684974" cy="200025"/>
          </a:xfrm>
          <a:prstGeom prst="roundRect">
            <a:avLst>
              <a:gd name="adj" fmla="val 4757143"/>
            </a:avLst>
          </a:prstGeom>
          <a:solidFill>
            <a:srgbClr val="E0F2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40861" y="1276499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1F8A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ATTEINT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8054690" y="12729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403622" y="1640830"/>
            <a:ext cx="8336756" cy="521494"/>
          </a:xfrm>
          <a:prstGeom prst="roundRect">
            <a:avLst>
              <a:gd name="adj" fmla="val 18265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2919" y="1730127"/>
            <a:ext cx="342900" cy="34290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57150" dist="19050" dir="5400000">
              <a:srgbClr val="C9A063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919" y="1730127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O2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1064419" y="1767967"/>
            <a:ext cx="7329488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Automatisation des règles métier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1064419" y="1910842"/>
            <a:ext cx="678656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Moteur de délibération LMD, planification anti-conflits des examens et salles, affectation équitable des surveillances.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46105" y="1801564"/>
            <a:ext cx="684974" cy="200025"/>
          </a:xfrm>
          <a:prstGeom prst="roundRect">
            <a:avLst>
              <a:gd name="adj" fmla="val 4757143"/>
            </a:avLst>
          </a:prstGeom>
          <a:solidFill>
            <a:srgbClr val="E0F2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40861" y="1862286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1F8A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ATTEINT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054690" y="185871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403622" y="2226618"/>
            <a:ext cx="8336756" cy="521494"/>
          </a:xfrm>
          <a:prstGeom prst="roundRect">
            <a:avLst>
              <a:gd name="adj" fmla="val 18265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919" y="2315914"/>
            <a:ext cx="342900" cy="34290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57150" dist="19050" dir="5400000">
              <a:srgbClr val="C9A063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2919" y="2315914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O3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1064419" y="2353754"/>
            <a:ext cx="712589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Sécurité &amp; conformité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1064419" y="2496629"/>
            <a:ext cx="678656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Sanctum, Google SSO, 2FA TOTP, RBAC, scellement SHA-256, audit forensique CNDP, ségrégation vacataires/permanents IGR 17 %.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7946105" y="2387352"/>
            <a:ext cx="684974" cy="200025"/>
          </a:xfrm>
          <a:prstGeom prst="roundRect">
            <a:avLst>
              <a:gd name="adj" fmla="val 4757143"/>
            </a:avLst>
          </a:prstGeom>
          <a:solidFill>
            <a:srgbClr val="E0F2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140861" y="2448074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1F8A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ATTEINT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8054690" y="24445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403622" y="2812405"/>
            <a:ext cx="8336756" cy="521494"/>
          </a:xfrm>
          <a:prstGeom prst="roundRect">
            <a:avLst>
              <a:gd name="adj" fmla="val 18265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2919" y="2901702"/>
            <a:ext cx="342900" cy="34290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57150" dist="19050" dir="5400000">
              <a:srgbClr val="C9A063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2919" y="29017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O4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1064419" y="2939542"/>
            <a:ext cx="7329488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 artificielle Gemini 1.5 Flash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1064419" y="3082417"/>
            <a:ext cx="678656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OCR d'admission, tuteur RAG, copilote enseignant, conseiller d'orientation, solveur CSP.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46105" y="2973139"/>
            <a:ext cx="684974" cy="200025"/>
          </a:xfrm>
          <a:prstGeom prst="roundRect">
            <a:avLst>
              <a:gd name="adj" fmla="val 4757143"/>
            </a:avLst>
          </a:prstGeom>
          <a:solidFill>
            <a:srgbClr val="E0F2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40861" y="3033861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1F8A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ATTEINT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8054690" y="303028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403622" y="3398193"/>
            <a:ext cx="8336756" cy="521494"/>
          </a:xfrm>
          <a:prstGeom prst="roundRect">
            <a:avLst>
              <a:gd name="adj" fmla="val 18265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2919" y="3487489"/>
            <a:ext cx="342900" cy="34290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57150" dist="19050" dir="5400000">
              <a:srgbClr val="C9A063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2919" y="348748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O5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1064419" y="3525329"/>
            <a:ext cx="712589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Qualité logicielle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1064419" y="3668204"/>
            <a:ext cx="6786563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Zéro donnée fictive, verrouillage optimiste des notes, suites de tests Pest/Vitest/Playwright et CI/CD.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946105" y="3558927"/>
            <a:ext cx="684974" cy="200025"/>
          </a:xfrm>
          <a:prstGeom prst="roundRect">
            <a:avLst>
              <a:gd name="adj" fmla="val 4757143"/>
            </a:avLst>
          </a:prstGeom>
          <a:solidFill>
            <a:srgbClr val="E0F2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140861" y="3619649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56" kern="0" dirty="0">
                <a:solidFill>
                  <a:srgbClr val="1F8A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ATTEINT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054690" y="361607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46" name="Text 44"/>
          <p:cNvSpPr/>
          <p:nvPr/>
        </p:nvSpPr>
        <p:spPr>
          <a:xfrm>
            <a:off x="0" y="4872038"/>
            <a:ext cx="9144000" cy="271463"/>
          </a:xfrm>
          <a:prstGeom prst="rect">
            <a:avLst/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00050" y="49434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266" dirty="0"/>
          </a:p>
        </p:txBody>
      </p:sp>
      <p:sp>
        <p:nvSpPr>
          <p:cNvPr id="48" name="Text 46"/>
          <p:cNvSpPr/>
          <p:nvPr/>
        </p:nvSpPr>
        <p:spPr>
          <a:xfrm>
            <a:off x="614363" y="4947717"/>
            <a:ext cx="8129588" cy="12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solutions comparées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Adaptation open-source </a:t>
            </a:r>
            <a:pPr algn="l" indent="0" marL="0">
              <a:lnSpc>
                <a:spcPts val="945"/>
              </a:lnSpc>
              <a:buNone/>
            </a:pPr>
            <a:r>
              <a:rPr lang="en-US" sz="800" i="1" dirty="0">
                <a:solidFill>
                  <a:srgbClr val="FFFFFF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(rejetée : surcharge, conformité non garantie)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Développement sur mesure RETENU</a:t>
            </a:r>
            <a:endParaRPr lang="en-US" sz="800" dirty="0"/>
          </a:p>
        </p:txBody>
      </p:sp>
      <p:pic>
        <p:nvPicPr>
          <p:cNvPr id="49" name="Image 0" descr="/tmp/h2p-fit-1790069970058-y968e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1" descr="/tmp/h2p-fit-1790069970065-0yo8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57175"/>
            <a:ext cx="863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1 · MÉTHODOLOGIE &amp; OUTILS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375047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17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Démarche Scrum + Stack Moderne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400050" y="68222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5788" y="846534"/>
            <a:ext cx="1755702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Méthodologie projet — Scrum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0050" y="8465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400050" y="1082278"/>
            <a:ext cx="199310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1092994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9584" y="1082278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050" y="1764506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3622" y="1082278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206" y="1189434"/>
            <a:ext cx="177879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S1 — S4 · FONDATIONS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206" y="1325166"/>
            <a:ext cx="177879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&amp; schéma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206" y="1488021"/>
            <a:ext cx="1885521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Auth, RBAC, schéma BDD, admissions</a:t>
            </a:r>
            <a:endParaRPr lang="en-US" sz="647" dirty="0"/>
          </a:p>
        </p:txBody>
      </p:sp>
      <p:sp>
        <p:nvSpPr>
          <p:cNvPr id="15" name="Text 13"/>
          <p:cNvSpPr/>
          <p:nvPr/>
        </p:nvSpPr>
        <p:spPr>
          <a:xfrm>
            <a:off x="2464594" y="1082278"/>
            <a:ext cx="199310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64594" y="1092994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4128" y="1082278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4594" y="1764506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166" y="1082278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1750" y="1189434"/>
            <a:ext cx="177879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S5 — S8 · CŒUR MÉTIER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1750" y="1325166"/>
            <a:ext cx="177879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Notes &amp; examens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71750" y="1488021"/>
            <a:ext cx="1885521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Notes, délibération LMD, examens, émargement</a:t>
            </a:r>
            <a:endParaRPr lang="en-US" sz="647" dirty="0"/>
          </a:p>
        </p:txBody>
      </p:sp>
      <p:sp>
        <p:nvSpPr>
          <p:cNvPr id="23" name="Text 21"/>
          <p:cNvSpPr/>
          <p:nvPr/>
        </p:nvSpPr>
        <p:spPr>
          <a:xfrm>
            <a:off x="400050" y="1839516"/>
            <a:ext cx="199310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1850231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89584" y="1839516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" y="2521744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3622" y="1839516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206" y="1946672"/>
            <a:ext cx="177879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S9 — S10 · DOCUMENTS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206" y="2082403"/>
            <a:ext cx="177879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Guichet &amp; scellement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206" y="2245258"/>
            <a:ext cx="1885521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Guichet, scellement SHA-256, CGI 17 %</a:t>
            </a:r>
            <a:endParaRPr lang="en-US" sz="647" dirty="0"/>
          </a:p>
        </p:txBody>
      </p:sp>
      <p:sp>
        <p:nvSpPr>
          <p:cNvPr id="31" name="Text 29"/>
          <p:cNvSpPr/>
          <p:nvPr/>
        </p:nvSpPr>
        <p:spPr>
          <a:xfrm>
            <a:off x="2464594" y="1839516"/>
            <a:ext cx="199310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464594" y="1850231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54128" y="1839516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4594" y="2521744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166" y="1839516"/>
            <a:ext cx="0" cy="68580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71750" y="1946672"/>
            <a:ext cx="177879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S11 — S12 · IA &amp; TESTS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71750" y="2082403"/>
            <a:ext cx="177879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Copilote Gemini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571750" y="2245258"/>
            <a:ext cx="1885521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Copilote Gemini, RAG, CI/CD GitHub Actions</a:t>
            </a:r>
            <a:endParaRPr lang="en-US" sz="647" dirty="0"/>
          </a:p>
        </p:txBody>
      </p:sp>
      <p:sp>
        <p:nvSpPr>
          <p:cNvPr id="39" name="Text 37"/>
          <p:cNvSpPr/>
          <p:nvPr/>
        </p:nvSpPr>
        <p:spPr>
          <a:xfrm>
            <a:off x="400050" y="2611041"/>
            <a:ext cx="4057650" cy="232172"/>
          </a:xfrm>
          <a:prstGeom prst="roundRect">
            <a:avLst>
              <a:gd name="adj" fmla="val 24615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10766" y="2611041"/>
            <a:ext cx="0" cy="232172"/>
          </a:xfrm>
          <a:prstGeom prst="line">
            <a:avLst/>
          </a:prstGeom>
          <a:noFill/>
          <a:ln w="21431">
            <a:solidFill>
              <a:srgbClr val="002E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050" y="2611041"/>
            <a:ext cx="4057650" cy="324196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sprints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backlog priorisé · revues hebdomadaires · branche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docker-v2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(Git/GitHub)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72038" y="846534"/>
            <a:ext cx="1095701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Stack technique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86300" y="8465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4686300" y="1082278"/>
            <a:ext cx="4057650" cy="314325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697016" y="1082278"/>
            <a:ext cx="0" cy="314325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7744" y="1139428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24889" y="115657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5107781" y="1175147"/>
            <a:ext cx="10058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65031" y="1186421"/>
            <a:ext cx="2678906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12 · PHP 8.4-FPM · Sanctum · Spatie RBAC · Horizon</a:t>
            </a:r>
            <a:endParaRPr lang="en-US" sz="619" dirty="0"/>
          </a:p>
        </p:txBody>
      </p:sp>
      <p:sp>
        <p:nvSpPr>
          <p:cNvPr id="50" name="Text 48"/>
          <p:cNvSpPr/>
          <p:nvPr/>
        </p:nvSpPr>
        <p:spPr>
          <a:xfrm>
            <a:off x="4686300" y="1439466"/>
            <a:ext cx="4057650" cy="314325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97016" y="1439466"/>
            <a:ext cx="0" cy="314325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7744" y="1496616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24889" y="151376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5107781" y="1532334"/>
            <a:ext cx="10058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65031" y="1543608"/>
            <a:ext cx="2678906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· TypeScript · Vite · TanStack Query · Zustand</a:t>
            </a:r>
            <a:endParaRPr lang="en-US" sz="619" dirty="0"/>
          </a:p>
        </p:txBody>
      </p:sp>
      <p:sp>
        <p:nvSpPr>
          <p:cNvPr id="56" name="Text 54"/>
          <p:cNvSpPr/>
          <p:nvPr/>
        </p:nvSpPr>
        <p:spPr>
          <a:xfrm>
            <a:off x="4686300" y="1796653"/>
            <a:ext cx="4057650" cy="314325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4697016" y="1796653"/>
            <a:ext cx="0" cy="314325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7744" y="1853803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24889" y="187094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5107781" y="1889522"/>
            <a:ext cx="9209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 de données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965031" y="1900796"/>
            <a:ext cx="2678906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16 · 134 tables · 98 modèles · 115 migrations</a:t>
            </a:r>
            <a:endParaRPr lang="en-US" sz="619" dirty="0"/>
          </a:p>
        </p:txBody>
      </p:sp>
      <p:sp>
        <p:nvSpPr>
          <p:cNvPr id="62" name="Text 60"/>
          <p:cNvSpPr/>
          <p:nvPr/>
        </p:nvSpPr>
        <p:spPr>
          <a:xfrm>
            <a:off x="4686300" y="2153841"/>
            <a:ext cx="4057650" cy="371475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4697016" y="2153841"/>
            <a:ext cx="0" cy="371475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7744" y="2239566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824889" y="225671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5107781" y="2210991"/>
            <a:ext cx="9209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Temps réel &amp; Async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65031" y="2286558"/>
            <a:ext cx="2788634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Reverb (WS 8080) · Redis 7 · queues Horizon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686300" y="2568178"/>
            <a:ext cx="4057650" cy="314325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697016" y="2568178"/>
            <a:ext cx="0" cy="314325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7744" y="2625328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824889" y="264247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5107781" y="2661047"/>
            <a:ext cx="10058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 &amp; PDF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965031" y="2672321"/>
            <a:ext cx="2788634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1.5 Flash · Tesseract OCR · DomPDF · Resend</a:t>
            </a:r>
            <a:endParaRPr lang="en-US" sz="619" dirty="0"/>
          </a:p>
        </p:txBody>
      </p:sp>
      <p:sp>
        <p:nvSpPr>
          <p:cNvPr id="74" name="Text 72"/>
          <p:cNvSpPr/>
          <p:nvPr/>
        </p:nvSpPr>
        <p:spPr>
          <a:xfrm>
            <a:off x="4686300" y="2925366"/>
            <a:ext cx="4057650" cy="314325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4697016" y="2925366"/>
            <a:ext cx="0" cy="314325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7744" y="2982516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824889" y="299966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78" name="Text 76"/>
          <p:cNvSpPr/>
          <p:nvPr/>
        </p:nvSpPr>
        <p:spPr>
          <a:xfrm>
            <a:off x="5107781" y="3018234"/>
            <a:ext cx="9209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DevOps &amp; Tests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965031" y="3029508"/>
            <a:ext cx="2678906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· GitHub Actions · Pest · Vitest · Playwright</a:t>
            </a:r>
            <a:endParaRPr lang="en-US" sz="619" dirty="0"/>
          </a:p>
        </p:txBody>
      </p:sp>
      <p:sp>
        <p:nvSpPr>
          <p:cNvPr id="80" name="Text 78"/>
          <p:cNvSpPr/>
          <p:nvPr/>
        </p:nvSpPr>
        <p:spPr>
          <a:xfrm>
            <a:off x="0" y="4864894"/>
            <a:ext cx="9144000" cy="27860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0" y="4868466"/>
            <a:ext cx="9144000" cy="0"/>
          </a:xfrm>
          <a:prstGeom prst="line">
            <a:avLst/>
          </a:prstGeom>
          <a:noFill/>
          <a:ln w="7144">
            <a:solidFill>
              <a:srgbClr val="C9A06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0050" y="495061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83" name="Text 81"/>
          <p:cNvSpPr/>
          <p:nvPr/>
        </p:nvSpPr>
        <p:spPr>
          <a:xfrm>
            <a:off x="585788" y="4943475"/>
            <a:ext cx="81581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Hébergement :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9 conteneurs Docker reproductibles (dev / staging / prod) ·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RPO &lt; 24h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RTO &lt; 60s</a:t>
            </a:r>
            <a:endParaRPr lang="en-US" sz="800" dirty="0"/>
          </a:p>
        </p:txBody>
      </p:sp>
      <p:pic>
        <p:nvPicPr>
          <p:cNvPr id="84" name="Image 0" descr="/tmp/h2p-fit-1790069977990-ta23r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85" name="Text 82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6" name="Image 1" descr="/tmp/h2p-fit-1790069976116-4omf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57175"/>
            <a:ext cx="86360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3 · CONCEPTION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375047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17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découplée professionnelle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400050" y="68222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7213" y="853678"/>
            <a:ext cx="1851794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 API ⟷ Frontend SPA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00050" y="8626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00050" y="1085850"/>
            <a:ext cx="2920343" cy="57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Indépendance des cycles de développement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réutilisable (futur mobile natif)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Montée en charge indépendante des deux tiers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707356"/>
            <a:ext cx="2920343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1810941"/>
            <a:ext cx="91940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500 ms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1128713" y="1853803"/>
            <a:ext cx="2191680" cy="14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Temps de réponse API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2055168"/>
            <a:ext cx="91940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8 ms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1128713" y="2098030"/>
            <a:ext cx="2191680" cy="296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Bootstrap Laravel</a:t>
            </a:r>
            <a:endParaRPr lang="en-US" sz="800" dirty="0"/>
          </a:p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(cache préchauffé)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050" y="2415034"/>
            <a:ext cx="1028700" cy="15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128713" y="2457896"/>
            <a:ext cx="2191680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couches architecturales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18" y="839391"/>
            <a:ext cx="5423446" cy="385763"/>
          </a:xfrm>
          <a:prstGeom prst="roundRect">
            <a:avLst>
              <a:gd name="adj" fmla="val 19753"/>
            </a:avLst>
          </a:prstGeom>
          <a:solidFill>
            <a:srgbClr val="FFFCF5"/>
          </a:solidFill>
          <a:ln/>
          <a:effectLst>
            <a:outerShdw sx="100000" sy="100000" kx="0" ky="0" algn="bl" rotWithShape="0" blurRad="19050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520418" y="850106"/>
            <a:ext cx="542344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40292" y="839391"/>
            <a:ext cx="0" cy="385763"/>
          </a:xfrm>
          <a:prstGeom prst="line">
            <a:avLst/>
          </a:prstGeom>
          <a:noFill/>
          <a:ln w="7144">
            <a:solidFill>
              <a:srgbClr val="C9A0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18" y="1221581"/>
            <a:ext cx="5423446" cy="0"/>
          </a:xfrm>
          <a:prstGeom prst="line">
            <a:avLst/>
          </a:prstGeom>
          <a:noFill/>
          <a:ln w="7144">
            <a:solidFill>
              <a:srgbClr val="C9A0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4705" y="839391"/>
            <a:ext cx="0" cy="385763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3293" y="932259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77223" y="94619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3963330" y="934045"/>
            <a:ext cx="485908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41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· PRÉSENTATION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63330" y="1042541"/>
            <a:ext cx="4968817" cy="104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SPA · TypeScript · Vite · Tailwind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82134" y="123944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520418" y="1353741"/>
            <a:ext cx="5423446" cy="371475"/>
          </a:xfrm>
          <a:prstGeom prst="roundRect">
            <a:avLst>
              <a:gd name="adj" fmla="val 20513"/>
            </a:avLst>
          </a:prstGeom>
          <a:solidFill>
            <a:srgbClr val="002E5B"/>
          </a:solidFill>
          <a:ln/>
          <a:effectLst>
            <a:outerShdw sx="100000" sy="100000" kx="0" ky="0" algn="bl" rotWithShape="0" blurRad="19050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534705" y="1353741"/>
            <a:ext cx="0" cy="371475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3293" y="1432322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C9A063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77223" y="144625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963330" y="1434108"/>
            <a:ext cx="486623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41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· REVERSE PROXY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63330" y="1542604"/>
            <a:ext cx="4975961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: /api/* → PHP-FPM · le reste → React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82134" y="173950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3520418" y="1853803"/>
            <a:ext cx="5423446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520418" y="1857375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40292" y="1853803"/>
            <a:ext cx="0" cy="371475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18" y="2221706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34705" y="1853803"/>
            <a:ext cx="0" cy="371475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63293" y="1932384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77223" y="194631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3963330" y="1934170"/>
            <a:ext cx="485908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41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· CONTRÔLEURS &amp; SERVICES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63330" y="2042666"/>
            <a:ext cx="4968817" cy="104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 12 · REST API · JSON-only · Eloquent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82134" y="22395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3520418" y="2353866"/>
            <a:ext cx="5423446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520418" y="2357438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0292" y="2353866"/>
            <a:ext cx="0" cy="371475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18" y="2721769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34705" y="2353866"/>
            <a:ext cx="0" cy="371475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63293" y="2432447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677223" y="244637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3963330" y="2434233"/>
            <a:ext cx="485908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41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· SÉCURITÉ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963330" y="2542729"/>
            <a:ext cx="4859089" cy="104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Sanctum · Spatie RBAC · Policies anti-IDOR · 2FA TOTP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82134" y="273962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3520418" y="2853928"/>
            <a:ext cx="5423446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3520418" y="2857500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40292" y="2853928"/>
            <a:ext cx="0" cy="371475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20418" y="3221831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34705" y="2853928"/>
            <a:ext cx="0" cy="371475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63293" y="2932509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677223" y="294644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59" name="Text 57"/>
          <p:cNvSpPr/>
          <p:nvPr/>
        </p:nvSpPr>
        <p:spPr>
          <a:xfrm>
            <a:off x="3963330" y="2934295"/>
            <a:ext cx="485908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41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· PERSISTENCE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963330" y="3042791"/>
            <a:ext cx="4859089" cy="104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16 · 134 tables · Redis 7 (cache/queues)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82134" y="32396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3520418" y="3353991"/>
            <a:ext cx="5423446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3520418" y="3357563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40292" y="3353991"/>
            <a:ext cx="0" cy="371475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20418" y="3721894"/>
            <a:ext cx="542344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34705" y="3353991"/>
            <a:ext cx="0" cy="371475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63293" y="3432572"/>
            <a:ext cx="214313" cy="214313"/>
          </a:xfrm>
          <a:prstGeom prst="roundRect">
            <a:avLst>
              <a:gd name="adj" fmla="val 26667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677223" y="344650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69" name="Text 67"/>
          <p:cNvSpPr/>
          <p:nvPr/>
        </p:nvSpPr>
        <p:spPr>
          <a:xfrm>
            <a:off x="3963330" y="3434358"/>
            <a:ext cx="485908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b="1" spc="41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· VUES PDF &amp; ÉVÉNEMENTS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963330" y="3542854"/>
            <a:ext cx="4968817" cy="104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DomPDF · Laravel Reverb (WS) · Horizon (queues)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804435" y="928688"/>
            <a:ext cx="1193006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C9A063"/>
            </a:solidFill>
            <a:prstDash val="solid"/>
          </a:ln>
          <a:effectLst>
            <a:outerShdw sx="100000" sy="100000" kx="0" ky="0" algn="bl" rotWithShape="0" blurRad="171450" dist="57150" dir="5400000">
              <a:srgbClr val="002E5B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029463" y="1017984"/>
            <a:ext cx="654769" cy="236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50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TEMPS RÉEL &amp; ASYNC</a:t>
            </a:r>
            <a:endParaRPr lang="en-US" sz="619" dirty="0"/>
          </a:p>
        </p:txBody>
      </p:sp>
      <p:sp>
        <p:nvSpPr>
          <p:cNvPr id="73" name="Text 71"/>
          <p:cNvSpPr/>
          <p:nvPr/>
        </p:nvSpPr>
        <p:spPr>
          <a:xfrm>
            <a:off x="7893732" y="10715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74" name="Text 72"/>
          <p:cNvSpPr/>
          <p:nvPr/>
        </p:nvSpPr>
        <p:spPr>
          <a:xfrm>
            <a:off x="7893732" y="1282303"/>
            <a:ext cx="10752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Reverb WS :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scan QR live, dashboards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893732" y="1510903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Horizon :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emails, PDF masse, OCR</a:t>
            </a:r>
            <a:endParaRPr lang="en-US" sz="800" dirty="0"/>
          </a:p>
        </p:txBody>
      </p:sp>
      <p:pic>
        <p:nvPicPr>
          <p:cNvPr id="76" name="Image 0" descr="/tmp/h2p-fit-1790069976362-hgqa4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8" name="Image 1" descr="/tmp/h2p-fit-1790069976306-gfp9w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57175"/>
            <a:ext cx="86360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3 · INFRASTRUCTURE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375047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17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Écosystème Docker — 9 conteneurs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400050" y="68222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3622" y="828675"/>
            <a:ext cx="5166047" cy="2183420"/>
          </a:xfrm>
          <a:prstGeom prst="roundRect">
            <a:avLst>
              <a:gd name="adj" fmla="val 3490"/>
            </a:avLst>
          </a:prstGeom>
          <a:noFill/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7194" y="832247"/>
          <a:ext cx="5158904" cy="914400"/>
        </p:xfrm>
        <a:graphic>
          <a:graphicData uri="http://schemas.openxmlformats.org/drawingml/2006/table">
            <a:tbl>
              <a:tblPr/>
              <a:tblGrid>
                <a:gridCol w="1134852"/>
                <a:gridCol w="1134852"/>
                <a:gridCol w="1650764"/>
                <a:gridCol w="12384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Conteneur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Service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Technologie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Ports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encg_nginx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Reverse Proxy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nginx:alpine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80:80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encg_backend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API REST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PHP 8.4-FPM (Laravel 12)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encg_frontend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Interface SPA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node:22-alpine (React 19/Vite)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5173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encg_reverb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WebSockets temps réel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Laravel Reverb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8080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encg_queue_worker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Worker queues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Laravel Horizon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encg_postgres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Base relationnelle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postgres:16-alpine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5432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encg_pgadmin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GUI BDD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dpage/pgadmin4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encg_redis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Cache &amp; queues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redis:7-alpine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6379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2E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encg_mailpit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Sandbox emails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axllent/mailpit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9A0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1025 / 8025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006" marR="71438" marT="71438" marB="50006" anchor="ctr">
                    <a:lnL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00050" y="3087105"/>
            <a:ext cx="5173191" cy="342007"/>
          </a:xfrm>
          <a:prstGeom prst="roundRect">
            <a:avLst>
              <a:gd name="adj" fmla="val 1671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10766" y="3087105"/>
            <a:ext cx="0" cy="342007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0050" y="3087105"/>
            <a:ext cx="5173191" cy="477566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CI/CD :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GitHub Actions (branche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docker-v2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) → 3 jobs parallèles :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backend-tests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(PHP 8.4 + PG 16) ·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frontend-quality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(Oxlint + Vitest + build Vite) ·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(composer audit + npm audit)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30404" y="825103"/>
            <a:ext cx="3170597" cy="1500188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30404" y="835819"/>
            <a:ext cx="3170597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97429" y="825103"/>
            <a:ext cx="0" cy="150018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30404" y="2321719"/>
            <a:ext cx="317059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33976" y="825103"/>
            <a:ext cx="0" cy="150018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pic>
        <p:nvPicPr>
          <p:cNvPr id="15" name="Image 0" descr="/tmp/h2p-fit-1790069976228-byqsl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697" y="903684"/>
            <a:ext cx="3042010" cy="12001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94697" y="2103834"/>
            <a:ext cx="3042010" cy="157163"/>
          </a:xfrm>
          <a:prstGeom prst="rect">
            <a:avLst/>
          </a:prstGeom>
          <a:noFill/>
          <a:ln/>
        </p:spPr>
        <p:txBody>
          <a:bodyPr wrap="square" lIns="28575" tIns="42863" rIns="28575" bIns="14288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i="1" dirty="0">
                <a:solidFill>
                  <a:srgbClr val="8C9AA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Stack Docker · Kubernetes · DevOps — écosystème conteneurisé reproductible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5730404" y="2411016"/>
            <a:ext cx="3170597" cy="340668"/>
          </a:xfrm>
          <a:prstGeom prst="roundRect">
            <a:avLst>
              <a:gd name="adj" fmla="val 16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5730404" y="2414588"/>
            <a:ext cx="317059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897429" y="2411016"/>
            <a:ext cx="0" cy="34066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30404" y="2748111"/>
            <a:ext cx="317059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41119" y="2411016"/>
            <a:ext cx="0" cy="340668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51847" y="2481337"/>
            <a:ext cx="1257300" cy="206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575" dirty="0"/>
          </a:p>
        </p:txBody>
      </p:sp>
      <p:sp>
        <p:nvSpPr>
          <p:cNvPr id="23" name="Text 19"/>
          <p:cNvSpPr/>
          <p:nvPr/>
        </p:nvSpPr>
        <p:spPr>
          <a:xfrm>
            <a:off x="6723385" y="2475309"/>
            <a:ext cx="2070460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conteneurs orchestrés</a:t>
            </a:r>
            <a:endParaRPr lang="en-US" sz="800" dirty="0"/>
          </a:p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via Docker Compose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730404" y="2808833"/>
            <a:ext cx="3170597" cy="340668"/>
          </a:xfrm>
          <a:prstGeom prst="roundRect">
            <a:avLst>
              <a:gd name="adj" fmla="val 16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5730404" y="2812405"/>
            <a:ext cx="317059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897429" y="2808833"/>
            <a:ext cx="0" cy="34066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730404" y="3145929"/>
            <a:ext cx="317059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741119" y="2808833"/>
            <a:ext cx="0" cy="340668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851847" y="2879154"/>
            <a:ext cx="1257300" cy="206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32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575" dirty="0"/>
          </a:p>
        </p:txBody>
      </p:sp>
      <p:sp>
        <p:nvSpPr>
          <p:cNvPr id="30" name="Text 26"/>
          <p:cNvSpPr/>
          <p:nvPr/>
        </p:nvSpPr>
        <p:spPr>
          <a:xfrm>
            <a:off x="6723385" y="2873127"/>
            <a:ext cx="2070460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environnements</a:t>
            </a:r>
            <a:endParaRPr lang="en-US" sz="800" dirty="0"/>
          </a:p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 · staging · prod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730404" y="3206651"/>
            <a:ext cx="3170597" cy="340668"/>
          </a:xfrm>
          <a:prstGeom prst="roundRect">
            <a:avLst>
              <a:gd name="adj" fmla="val 167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2E5B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5730404" y="3210223"/>
            <a:ext cx="317059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897429" y="3206651"/>
            <a:ext cx="0" cy="34066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730404" y="3543746"/>
            <a:ext cx="317059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741119" y="3206651"/>
            <a:ext cx="0" cy="340668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851847" y="3298403"/>
            <a:ext cx="100584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~80→8 ms</a:t>
            </a:r>
            <a:endParaRPr lang="en-US" sz="1238" dirty="0"/>
          </a:p>
        </p:txBody>
      </p:sp>
      <p:sp>
        <p:nvSpPr>
          <p:cNvPr id="37" name="Text 33"/>
          <p:cNvSpPr/>
          <p:nvPr/>
        </p:nvSpPr>
        <p:spPr>
          <a:xfrm>
            <a:off x="6723385" y="3270945"/>
            <a:ext cx="2070460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bootstrap Laravel</a:t>
            </a:r>
            <a:endParaRPr lang="en-US" sz="800" dirty="0"/>
          </a:p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après cache:cache</a:t>
            </a:r>
            <a:endParaRPr lang="en-US" sz="800" dirty="0"/>
          </a:p>
        </p:txBody>
      </p:sp>
      <p:pic>
        <p:nvPicPr>
          <p:cNvPr id="38" name="Image 1" descr="/tmp/h2p-fit-1790069976593-6io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2" descr="/tmp/h2p-fit-1790069976369-6x9ti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990584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3 · DONNÉES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6148"/>
            <a:ext cx="5954126" cy="28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de données — 134 tables, 17 domaines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57200" y="95469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54708"/>
            <a:ext cx="541284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PostgreSQL 16 · 98 modèles Eloquent · 115 migrations · transactions ACID obligatoires sur écritures sensibles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367568" y="400050"/>
            <a:ext cx="453969" cy="224444"/>
          </a:xfrm>
          <a:prstGeom prst="rect">
            <a:avLst/>
          </a:prstGeom>
          <a:noFill/>
          <a:ln/>
        </p:spPr>
        <p:txBody>
          <a:bodyPr wrap="none" lIns="0" tIns="42863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8C9AA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89335"/>
            <a:ext cx="1993106" cy="590029"/>
          </a:xfrm>
          <a:prstGeom prst="roundRect">
            <a:avLst>
              <a:gd name="adj" fmla="val 12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300051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46734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5792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772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931" y="1410779"/>
            <a:ext cx="1721644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134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592931" y="1660810"/>
            <a:ext cx="172164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tables PostgreSQL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36031" y="1289335"/>
            <a:ext cx="1993106" cy="590029"/>
          </a:xfrm>
          <a:prstGeom prst="roundRect">
            <a:avLst>
              <a:gd name="adj" fmla="val 12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36031" y="1300051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5566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6031" y="1875792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39603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1763" y="1410779"/>
            <a:ext cx="1721644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2671763" y="1660810"/>
            <a:ext cx="172164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domaines métier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4863" y="1289335"/>
            <a:ext cx="1993106" cy="590029"/>
          </a:xfrm>
          <a:prstGeom prst="roundRect">
            <a:avLst>
              <a:gd name="adj" fmla="val 12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14863" y="1300051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4397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4863" y="1875792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8434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0594" y="1410779"/>
            <a:ext cx="1721644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4750594" y="1660810"/>
            <a:ext cx="172164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modèles Eloquent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93694" y="1289335"/>
            <a:ext cx="1993106" cy="590029"/>
          </a:xfrm>
          <a:prstGeom prst="roundRect">
            <a:avLst>
              <a:gd name="adj" fmla="val 12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693694" y="1300051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3228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3694" y="1875792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97266" y="1289335"/>
            <a:ext cx="0" cy="59002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9425" y="1410779"/>
            <a:ext cx="1721644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K+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6829425" y="1660810"/>
            <a:ext cx="1824942" cy="1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lignes assiduité indexées &lt;12ms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0772" y="1968661"/>
            <a:ext cx="1581559" cy="592931"/>
          </a:xfrm>
          <a:prstGeom prst="roundRect">
            <a:avLst>
              <a:gd name="adj" fmla="val 12851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50069" y="20436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721519" y="2054386"/>
            <a:ext cx="1231516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Identité &amp; Auth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0069" y="2207977"/>
            <a:ext cx="1487143" cy="14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· institutions · audit_logs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120912" y="1968661"/>
            <a:ext cx="1581671" cy="592931"/>
          </a:xfrm>
          <a:prstGeom prst="roundRect">
            <a:avLst>
              <a:gd name="adj" fmla="val 12851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210209" y="20436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266" dirty="0"/>
          </a:p>
        </p:txBody>
      </p:sp>
      <p:sp>
        <p:nvSpPr>
          <p:cNvPr id="41" name="Text 39"/>
          <p:cNvSpPr/>
          <p:nvPr/>
        </p:nvSpPr>
        <p:spPr>
          <a:xfrm>
            <a:off x="2381659" y="2054386"/>
            <a:ext cx="1231627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Étudiants &amp; parcours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10209" y="2207977"/>
            <a:ext cx="148726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· student_pathways · student_cards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81165" y="1968661"/>
            <a:ext cx="1581559" cy="592931"/>
          </a:xfrm>
          <a:prstGeom prst="roundRect">
            <a:avLst>
              <a:gd name="adj" fmla="val 12851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870461" y="20436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4041911" y="2054386"/>
            <a:ext cx="1231516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Corps professoral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870461" y="2207977"/>
            <a:ext cx="148714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professors · vacation_contracts · vacation_payments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41305" y="1968661"/>
            <a:ext cx="1581671" cy="592931"/>
          </a:xfrm>
          <a:prstGeom prst="roundRect">
            <a:avLst>
              <a:gd name="adj" fmla="val 12851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30602" y="20436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5702052" y="2054386"/>
            <a:ext cx="1231627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 académique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30602" y="2207977"/>
            <a:ext cx="148726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academic_years · filieres · modules · groups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01557" y="1968661"/>
            <a:ext cx="1581559" cy="592931"/>
          </a:xfrm>
          <a:prstGeom prst="roundRect">
            <a:avLst>
              <a:gd name="adj" fmla="val 12851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90854" y="20436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53" name="Text 51"/>
          <p:cNvSpPr/>
          <p:nvPr/>
        </p:nvSpPr>
        <p:spPr>
          <a:xfrm>
            <a:off x="7362304" y="2054386"/>
            <a:ext cx="1231516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EDT &amp; Salles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190854" y="2207977"/>
            <a:ext cx="148714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schedules · rooms · room_bookings · campuses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0772" y="2640174"/>
            <a:ext cx="1581559" cy="618046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50069" y="27151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7" name="Text 55"/>
          <p:cNvSpPr/>
          <p:nvPr/>
        </p:nvSpPr>
        <p:spPr>
          <a:xfrm>
            <a:off x="721519" y="2725899"/>
            <a:ext cx="1231516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Notes &amp; Délibérations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50069" y="2879489"/>
            <a:ext cx="1487143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 · grade_audits · deliberations · module_pv_signatures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120912" y="2640174"/>
            <a:ext cx="1581671" cy="618046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2210209" y="27151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61" name="Text 59"/>
          <p:cNvSpPr/>
          <p:nvPr/>
        </p:nvSpPr>
        <p:spPr>
          <a:xfrm>
            <a:off x="2381659" y="2725899"/>
            <a:ext cx="1231627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Examens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210209" y="2879489"/>
            <a:ext cx="1487262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exams · exam_sessions · exam_surveillances · convocations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781165" y="2640174"/>
            <a:ext cx="1581559" cy="618046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870461" y="27151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65" name="Text 63"/>
          <p:cNvSpPr/>
          <p:nvPr/>
        </p:nvSpPr>
        <p:spPr>
          <a:xfrm>
            <a:off x="4041911" y="2725899"/>
            <a:ext cx="1231516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Assiduité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870461" y="2879489"/>
            <a:ext cx="1487143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attendances · attendance_sessions · absence_justifications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41305" y="2640174"/>
            <a:ext cx="1581671" cy="618046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30602" y="27151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69" name="Text 67"/>
          <p:cNvSpPr/>
          <p:nvPr/>
        </p:nvSpPr>
        <p:spPr>
          <a:xfrm>
            <a:off x="5702052" y="2725899"/>
            <a:ext cx="1231627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Documents &amp; Guichet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530602" y="2879489"/>
            <a:ext cx="1487262" cy="303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document_requests · generated_documents · blockchain_certificates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101557" y="2640174"/>
            <a:ext cx="1581559" cy="618046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190854" y="271518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73" name="Text 71"/>
          <p:cNvSpPr/>
          <p:nvPr/>
        </p:nvSpPr>
        <p:spPr>
          <a:xfrm>
            <a:off x="7362304" y="2725899"/>
            <a:ext cx="1231516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 &amp; Analytique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190854" y="2879489"/>
            <a:ext cx="1487143" cy="29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ai_conversations · ai_chat_messages · ai_generated_contents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57200" y="4486721"/>
            <a:ext cx="8229600" cy="256729"/>
          </a:xfrm>
          <a:prstGeom prst="roundRect">
            <a:avLst>
              <a:gd name="adj" fmla="val 22261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467916" y="4486721"/>
            <a:ext cx="0" cy="256729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8644" y="4558159"/>
            <a:ext cx="800814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b="1" spc="25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STRATÉGIE D'OPTIMISATION —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index partiels PostgreSQL · index composites sur jointures massives · recherche plein texte GIN (Ctrl+K) · partitionnement prévu par 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academic_year_id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au-delà de 50 000 étudiants</a:t>
            </a:r>
            <a:endParaRPr lang="en-US" sz="619" dirty="0"/>
          </a:p>
        </p:txBody>
      </p:sp>
      <p:pic>
        <p:nvPicPr>
          <p:cNvPr id="78" name="Image 0" descr="/tmp/h2p-fit-1790069971383-7i0eu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0" name="Image 1" descr="/tmp/h2p-fit-1790069971503-hv7qr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209517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3 · MOTEUR MÉTIER #1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6148"/>
            <a:ext cx="5461765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Moteur de délibération LMD conforme MESRSFC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457200" y="93404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34058"/>
            <a:ext cx="4965241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ApogeeDeliberationEngine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LmdCalculationService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moyenne = 0,40×CC + 0,60×Examen · export APOGEE format 040</a:t>
            </a:r>
            <a:endParaRPr lang="en-US" sz="731" dirty="0"/>
          </a:p>
        </p:txBody>
      </p:sp>
      <p:sp>
        <p:nvSpPr>
          <p:cNvPr id="6" name="Text 4"/>
          <p:cNvSpPr/>
          <p:nvPr/>
        </p:nvSpPr>
        <p:spPr>
          <a:xfrm>
            <a:off x="8367568" y="400050"/>
            <a:ext cx="453969" cy="224444"/>
          </a:xfrm>
          <a:prstGeom prst="rect">
            <a:avLst/>
          </a:prstGeom>
          <a:noFill/>
          <a:ln/>
        </p:spPr>
        <p:txBody>
          <a:bodyPr wrap="none" lIns="0" tIns="42863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8C9AA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268685"/>
            <a:ext cx="46535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6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Règles de décision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75854"/>
          <a:ext cx="4431916" cy="914400"/>
        </p:xfrm>
        <a:graphic>
          <a:graphicData uri="http://schemas.openxmlformats.org/drawingml/2006/table">
            <a:tbl>
              <a:tblPr/>
              <a:tblGrid>
                <a:gridCol w="2654796"/>
                <a:gridCol w="177711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Condition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Décision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Moyenne ≥ 10,00 ET Examen ≥ 7,00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 — Validé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Examen &lt; 7,00 (strict)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NV — Éliminatoire (jamais rattrapable)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7,00 ≤ Moyenne &lt; 10,00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RAT — Admis au rattrapage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max(Moyenne normale, Note RAT) ≥ 10,00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VR — Validé après rattrapage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Moyenne annuelle (S1+S2)/2 ≥ 10,00 ET aucune note &lt; 7,00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A3D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VARC — Validé par compensation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385021"/>
            <a:ext cx="4431916" cy="397259"/>
          </a:xfrm>
          <a:prstGeom prst="roundRect">
            <a:avLst>
              <a:gd name="adj" fmla="val 19181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7916" y="3385021"/>
            <a:ext cx="0" cy="397259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8644" y="3463603"/>
            <a:ext cx="4210459" cy="24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spc="26" kern="0" dirty="0">
                <a:solidFill>
                  <a:srgbClr val="7A5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TRAITEMENT DE LA FRAUDE —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5A44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découplage Examen/CC :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5A4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isFraud = hasFraud &amp;&amp; isExam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5A44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note d'examen figée 00/20, moyenne = 00.00, mais CC restent saisissables pour documenter le parcours réel.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60566" y="1268685"/>
            <a:ext cx="3807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6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Cycle de vie d'un module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64137" y="1479426"/>
            <a:ext cx="3618979" cy="2346722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4862" y="1541898"/>
            <a:ext cx="728171" cy="234029"/>
          </a:xfrm>
          <a:prstGeom prst="roundRect">
            <a:avLst>
              <a:gd name="adj" fmla="val 4065938"/>
            </a:avLst>
          </a:prstGeom>
          <a:solidFill>
            <a:srgbClr val="E5EA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87026" y="1611585"/>
            <a:ext cx="401006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spc="13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EnCours</a:t>
            </a:r>
            <a:endParaRPr lang="en-US" sz="647" dirty="0"/>
          </a:p>
        </p:txBody>
      </p:sp>
      <p:sp>
        <p:nvSpPr>
          <p:cNvPr id="16" name="Text 13"/>
          <p:cNvSpPr/>
          <p:nvPr/>
        </p:nvSpPr>
        <p:spPr>
          <a:xfrm>
            <a:off x="5253447" y="160890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A6B8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7" name="Text 14"/>
          <p:cNvSpPr/>
          <p:nvPr/>
        </p:nvSpPr>
        <p:spPr>
          <a:xfrm>
            <a:off x="5167722" y="1763390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44862" y="1879440"/>
            <a:ext cx="743687" cy="234029"/>
          </a:xfrm>
          <a:prstGeom prst="roundRect">
            <a:avLst>
              <a:gd name="adj" fmla="val 4065938"/>
            </a:avLst>
          </a:prstGeom>
          <a:solidFill>
            <a:srgbClr val="E1E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364732" y="1949128"/>
            <a:ext cx="461109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spc="13" kern="0" dirty="0">
                <a:solidFill>
                  <a:srgbClr val="1B4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SaisieCC</a:t>
            </a:r>
            <a:endParaRPr lang="en-US" sz="647" dirty="0"/>
          </a:p>
        </p:txBody>
      </p:sp>
      <p:sp>
        <p:nvSpPr>
          <p:cNvPr id="20" name="Text 17"/>
          <p:cNvSpPr/>
          <p:nvPr/>
        </p:nvSpPr>
        <p:spPr>
          <a:xfrm>
            <a:off x="5253447" y="194644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B4F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984" dirty="0"/>
          </a:p>
        </p:txBody>
      </p:sp>
      <p:sp>
        <p:nvSpPr>
          <p:cNvPr id="21" name="Text 18"/>
          <p:cNvSpPr/>
          <p:nvPr/>
        </p:nvSpPr>
        <p:spPr>
          <a:xfrm>
            <a:off x="5167722" y="2100932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44862" y="2216982"/>
            <a:ext cx="1081006" cy="234029"/>
          </a:xfrm>
          <a:prstGeom prst="roundRect">
            <a:avLst>
              <a:gd name="adj" fmla="val 4065938"/>
            </a:avLst>
          </a:prstGeom>
          <a:solidFill>
            <a:srgbClr val="E1E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410609" y="2286670"/>
            <a:ext cx="706673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spc="13" kern="0" dirty="0">
                <a:solidFill>
                  <a:srgbClr val="1B4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SessionOrdinaire</a:t>
            </a:r>
            <a:endParaRPr lang="en-US" sz="647" dirty="0"/>
          </a:p>
        </p:txBody>
      </p:sp>
      <p:sp>
        <p:nvSpPr>
          <p:cNvPr id="24" name="Text 21"/>
          <p:cNvSpPr/>
          <p:nvPr/>
        </p:nvSpPr>
        <p:spPr>
          <a:xfrm>
            <a:off x="5253447" y="228399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B4F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5" name="Text 22"/>
          <p:cNvSpPr/>
          <p:nvPr/>
        </p:nvSpPr>
        <p:spPr>
          <a:xfrm>
            <a:off x="5167722" y="2438474"/>
            <a:ext cx="178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67722" y="2556025"/>
            <a:ext cx="180156" cy="206026"/>
          </a:xfrm>
          <a:prstGeom prst="roundRect">
            <a:avLst>
              <a:gd name="adj" fmla="val 5281797"/>
            </a:avLst>
          </a:prstGeom>
          <a:solidFill>
            <a:srgbClr val="E0F2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167722" y="2567062"/>
            <a:ext cx="18015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0E6B4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90741" y="2556025"/>
            <a:ext cx="281732" cy="206026"/>
          </a:xfrm>
          <a:prstGeom prst="roundRect">
            <a:avLst>
              <a:gd name="adj" fmla="val 4618580"/>
            </a:avLst>
          </a:prstGeom>
          <a:solidFill>
            <a:srgbClr val="FCEB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390741" y="2567062"/>
            <a:ext cx="281732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8C4F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715335" y="2556025"/>
            <a:ext cx="235855" cy="206026"/>
          </a:xfrm>
          <a:prstGeom prst="roundRect">
            <a:avLst>
              <a:gd name="adj" fmla="val 4618580"/>
            </a:avLst>
          </a:prstGeom>
          <a:solidFill>
            <a:srgbClr val="F8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715335" y="2567062"/>
            <a:ext cx="23585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12" kern="0" dirty="0">
                <a:solidFill>
                  <a:srgbClr val="8C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267734" y="2758157"/>
            <a:ext cx="3421526" cy="12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issue de SessionOrdinaire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67722" y="2913534"/>
            <a:ext cx="3411810" cy="101156"/>
          </a:xfrm>
          <a:prstGeom prst="rect">
            <a:avLst/>
          </a:prstGeom>
          <a:noFill/>
          <a:ln/>
        </p:spPr>
        <p:txBody>
          <a:bodyPr wrap="none" lIns="128588" tIns="14288" rIns="0" bIns="14288" rtlCol="0" anchor="t">
            <a:norm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 si RAT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44862" y="3029584"/>
            <a:ext cx="1396670" cy="234029"/>
          </a:xfrm>
          <a:prstGeom prst="roundRect">
            <a:avLst>
              <a:gd name="adj" fmla="val 4065938"/>
            </a:avLst>
          </a:prstGeom>
          <a:solidFill>
            <a:srgbClr val="E1E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10609" y="3099271"/>
            <a:ext cx="1022338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spc="13" kern="0" dirty="0">
                <a:solidFill>
                  <a:srgbClr val="1B4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SessionRattrapage → VR</a:t>
            </a:r>
            <a:endParaRPr lang="en-US" sz="647" dirty="0"/>
          </a:p>
        </p:txBody>
      </p:sp>
      <p:sp>
        <p:nvSpPr>
          <p:cNvPr id="36" name="Text 33"/>
          <p:cNvSpPr/>
          <p:nvPr/>
        </p:nvSpPr>
        <p:spPr>
          <a:xfrm>
            <a:off x="5253447" y="309659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B4F8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37" name="Text 34"/>
          <p:cNvSpPr/>
          <p:nvPr/>
        </p:nvSpPr>
        <p:spPr>
          <a:xfrm>
            <a:off x="5167722" y="3293938"/>
            <a:ext cx="341181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67722" y="3422526"/>
            <a:ext cx="1555217" cy="208955"/>
          </a:xfrm>
          <a:prstGeom prst="roundRect">
            <a:avLst>
              <a:gd name="adj" fmla="val 4553839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410609" y="3479676"/>
            <a:ext cx="1226604" cy="114499"/>
          </a:xfrm>
          <a:prstGeom prst="rect">
            <a:avLst/>
          </a:prstGeom>
          <a:noFill/>
          <a:ln/>
        </p:spPr>
        <p:txBody>
          <a:bodyPr wrap="none" lIns="85725" tIns="42863" rIns="85725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spc="13" kern="0" dirty="0">
                <a:solidFill>
                  <a:srgbClr val="7A5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JuryAnnuel → VARC / Ajourné</a:t>
            </a:r>
            <a:endParaRPr lang="en-US" sz="647" dirty="0"/>
          </a:p>
        </p:txBody>
      </p:sp>
      <p:sp>
        <p:nvSpPr>
          <p:cNvPr id="40" name="Text 37"/>
          <p:cNvSpPr/>
          <p:nvPr/>
        </p:nvSpPr>
        <p:spPr>
          <a:xfrm>
            <a:off x="5253447" y="34769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7A5B2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5267734" y="3638624"/>
            <a:ext cx="331179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décision finale annuelle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064137" y="3904729"/>
            <a:ext cx="1163427" cy="516359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153434" y="3979738"/>
            <a:ext cx="14001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38" dirty="0"/>
          </a:p>
        </p:txBody>
      </p:sp>
      <p:sp>
        <p:nvSpPr>
          <p:cNvPr id="44" name="Text 41"/>
          <p:cNvSpPr/>
          <p:nvPr/>
        </p:nvSpPr>
        <p:spPr>
          <a:xfrm>
            <a:off x="5153434" y="4151188"/>
            <a:ext cx="869822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décisions LMD gérées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6291858" y="3904729"/>
            <a:ext cx="1163427" cy="516359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381155" y="3979738"/>
            <a:ext cx="41969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040</a:t>
            </a:r>
            <a:endParaRPr lang="en-US" sz="1238" dirty="0"/>
          </a:p>
        </p:txBody>
      </p:sp>
      <p:sp>
        <p:nvSpPr>
          <p:cNvPr id="47" name="Text 44"/>
          <p:cNvSpPr/>
          <p:nvPr/>
        </p:nvSpPr>
        <p:spPr>
          <a:xfrm>
            <a:off x="6381155" y="4151188"/>
            <a:ext cx="984833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APOGEE MESRSFC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7519578" y="3904729"/>
            <a:ext cx="1163427" cy="516359"/>
          </a:xfrm>
          <a:prstGeom prst="roundRect">
            <a:avLst>
              <a:gd name="adj" fmla="val 14757"/>
            </a:avLst>
          </a:prstGeom>
          <a:solidFill>
            <a:srgbClr val="FFFFFF"/>
          </a:solidFill>
          <a:ln w="7144">
            <a:solidFill>
              <a:srgbClr val="E1E7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7608875" y="3979738"/>
            <a:ext cx="27985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238" dirty="0"/>
          </a:p>
        </p:txBody>
      </p:sp>
      <p:sp>
        <p:nvSpPr>
          <p:cNvPr id="50" name="Text 47"/>
          <p:cNvSpPr/>
          <p:nvPr/>
        </p:nvSpPr>
        <p:spPr>
          <a:xfrm>
            <a:off x="7608875" y="4151188"/>
            <a:ext cx="1043923" cy="19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assertions BVA (seuils 7.00 / 10.00)</a:t>
            </a:r>
            <a:endParaRPr lang="en-US" sz="800" dirty="0"/>
          </a:p>
        </p:txBody>
      </p:sp>
      <p:pic>
        <p:nvPicPr>
          <p:cNvPr id="51" name="Image 0" descr="/tmp/h2p-fit-1790069972842-3z5r9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1" descr="/tmp/h2p-fit-1790069972594-g2no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2167021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3 · MOTEURS MÉTIER #2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6148"/>
            <a:ext cx="5661288" cy="248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Hub intelligent des salles &amp; planification des examens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457200" y="91752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67568" y="400050"/>
            <a:ext cx="453969" cy="224444"/>
          </a:xfrm>
          <a:prstGeom prst="rect">
            <a:avLst/>
          </a:prstGeom>
          <a:noFill/>
          <a:ln/>
        </p:spPr>
        <p:txBody>
          <a:bodyPr wrap="none" lIns="0" tIns="42863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8C9AA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74688"/>
            <a:ext cx="4043363" cy="3272284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088975"/>
            <a:ext cx="4043363" cy="0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074688"/>
            <a:ext cx="0" cy="3272284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343400"/>
            <a:ext cx="4043363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1074688"/>
            <a:ext cx="0" cy="3272284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506" y="1246138"/>
            <a:ext cx="1961964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Room Finder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21506" y="1428973"/>
            <a:ext cx="1868537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/api/rooms/smart-find · algorithme 5 étapes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4150519" y="124613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828" dirty="0"/>
          </a:p>
        </p:txBody>
      </p:sp>
      <p:sp>
        <p:nvSpPr>
          <p:cNvPr id="14" name="Text 12"/>
          <p:cNvSpPr/>
          <p:nvPr/>
        </p:nvSpPr>
        <p:spPr>
          <a:xfrm>
            <a:off x="621506" y="1660364"/>
            <a:ext cx="171450" cy="171450"/>
          </a:xfrm>
          <a:prstGeom prst="ellipse">
            <a:avLst/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1660364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4394" y="1660364"/>
            <a:ext cx="3471863" cy="171879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Calcul d'effectif selon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groupes sélectionnés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506" y="1896108"/>
            <a:ext cx="171450" cy="171450"/>
          </a:xfrm>
          <a:prstGeom prst="ellipse">
            <a:avLst/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506" y="1896108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4394" y="1896108"/>
            <a:ext cx="3471863" cy="171879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capacité (mode examen :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exam_capacity = capacity / 2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506" y="2131851"/>
            <a:ext cx="171450" cy="171450"/>
          </a:xfrm>
          <a:prstGeom prst="ellipse">
            <a:avLst/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2131851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4394" y="2131851"/>
            <a:ext cx="3471863" cy="171879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Détection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collision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 intersection d'intervalles 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[start, end]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621506" y="2367595"/>
            <a:ext cx="171450" cy="171450"/>
          </a:xfrm>
          <a:prstGeom prst="ellipse">
            <a:avLst/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506" y="2367595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4394" y="2367595"/>
            <a:ext cx="3471863" cy="171879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Diagnostic :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 + professeur + groupe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occupant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506" y="2603339"/>
            <a:ext cx="171450" cy="171450"/>
          </a:xfrm>
          <a:prstGeom prst="ellipse">
            <a:avLst/>
          </a:prstGeom>
          <a:solidFill>
            <a:srgbClr val="002E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506" y="2603339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4394" y="2603339"/>
            <a:ext cx="3471863" cy="171879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Recommandation par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Fit-Score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(Smallest-Fit : amphi si CM, salle TD sinon)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621506" y="3898702"/>
            <a:ext cx="3714750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21506" y="3975461"/>
            <a:ext cx="967308" cy="234029"/>
          </a:xfrm>
          <a:prstGeom prst="roundRect">
            <a:avLst>
              <a:gd name="adj" fmla="val 2442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4388" y="4045148"/>
            <a:ext cx="824433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 fonctionnels</a:t>
            </a:r>
            <a:endParaRPr lang="en-US" sz="647" dirty="0"/>
          </a:p>
        </p:txBody>
      </p:sp>
      <p:sp>
        <p:nvSpPr>
          <p:cNvPr id="32" name="Text 30"/>
          <p:cNvSpPr/>
          <p:nvPr/>
        </p:nvSpPr>
        <p:spPr>
          <a:xfrm>
            <a:off x="692944" y="4033540"/>
            <a:ext cx="824433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88827" y="3987998"/>
            <a:ext cx="1587364" cy="208955"/>
          </a:xfrm>
          <a:prstGeom prst="roundRect">
            <a:avLst>
              <a:gd name="adj" fmla="val 2735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760265" y="4045148"/>
            <a:ext cx="2575992" cy="114499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 → generate → apply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898741" y="4030861"/>
            <a:ext cx="35641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(ACID)</a:t>
            </a:r>
            <a:endParaRPr lang="en-US" sz="647" dirty="0"/>
          </a:p>
        </p:txBody>
      </p:sp>
      <p:sp>
        <p:nvSpPr>
          <p:cNvPr id="36" name="Text 34"/>
          <p:cNvSpPr/>
          <p:nvPr/>
        </p:nvSpPr>
        <p:spPr>
          <a:xfrm>
            <a:off x="4643438" y="1074688"/>
            <a:ext cx="4043363" cy="3272284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43438" y="1088975"/>
            <a:ext cx="4043363" cy="0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3228" y="1074688"/>
            <a:ext cx="0" cy="3272284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43438" y="4343400"/>
            <a:ext cx="4043363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7009" y="1074688"/>
            <a:ext cx="0" cy="3272284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7744" y="1246138"/>
            <a:ext cx="2531446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ExamPlanningEngine — Surveillances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4807744" y="1428973"/>
            <a:ext cx="253144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Équité mathématique stricte · corps tripartite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8336756" y="124613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828" dirty="0"/>
          </a:p>
        </p:txBody>
      </p:sp>
      <p:sp>
        <p:nvSpPr>
          <p:cNvPr id="44" name="Text 42"/>
          <p:cNvSpPr/>
          <p:nvPr/>
        </p:nvSpPr>
        <p:spPr>
          <a:xfrm>
            <a:off x="4807744" y="1703226"/>
            <a:ext cx="42863" cy="42863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14900" y="1653220"/>
            <a:ext cx="360759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 = nb modules × 2 surveillants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w_max = ⌈N / P⌉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07744" y="1880369"/>
            <a:ext cx="42863" cy="42863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14900" y="1830363"/>
            <a:ext cx="360759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Invariant garanti :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|w_i − w_j| ≤ 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07744" y="2057512"/>
            <a:ext cx="42863" cy="42863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914900" y="2007505"/>
            <a:ext cx="360759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Tri 3 paliers :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(1)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pénalisation w_max atteint ·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(2)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bloc demi-journée ·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(3)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charge cumulée min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4807744" y="2234654"/>
            <a:ext cx="42863" cy="42863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14900" y="2184648"/>
            <a:ext cx="360759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Vérification croisée mémoire + base · interdiction doublon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07744" y="2411797"/>
            <a:ext cx="42863" cy="42863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914900" y="2361791"/>
            <a:ext cx="360759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Corps :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permanents (présidence) · vacataires · doctorants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7744" y="3898702"/>
            <a:ext cx="3714750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4807744" y="3987998"/>
            <a:ext cx="1247812" cy="208955"/>
          </a:xfrm>
          <a:prstGeom prst="roundRect">
            <a:avLst>
              <a:gd name="adj" fmla="val 2735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961334" y="4045148"/>
            <a:ext cx="1144228" cy="114499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surveillances / enseignant</a:t>
            </a:r>
            <a:endParaRPr lang="en-US" sz="647" dirty="0"/>
          </a:p>
        </p:txBody>
      </p:sp>
      <p:sp>
        <p:nvSpPr>
          <p:cNvPr id="57" name="Text 55"/>
          <p:cNvSpPr/>
          <p:nvPr/>
        </p:nvSpPr>
        <p:spPr>
          <a:xfrm>
            <a:off x="4879181" y="4033540"/>
            <a:ext cx="1104937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55568" y="3975461"/>
            <a:ext cx="1053815" cy="234029"/>
          </a:xfrm>
          <a:prstGeom prst="roundRect">
            <a:avLst>
              <a:gd name="adj" fmla="val 2442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626609" y="4045148"/>
            <a:ext cx="632780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équité stricte</a:t>
            </a:r>
            <a:endParaRPr lang="en-US" sz="647" dirty="0"/>
          </a:p>
        </p:txBody>
      </p:sp>
      <p:sp>
        <p:nvSpPr>
          <p:cNvPr id="60" name="Text 58"/>
          <p:cNvSpPr/>
          <p:nvPr/>
        </p:nvSpPr>
        <p:spPr>
          <a:xfrm>
            <a:off x="6227006" y="4033540"/>
            <a:ext cx="910940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écart = 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09396" y="3975461"/>
            <a:ext cx="996553" cy="234029"/>
          </a:xfrm>
          <a:prstGeom prst="roundRect">
            <a:avLst>
              <a:gd name="adj" fmla="val 2442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462986" y="4045148"/>
            <a:ext cx="1059507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collision temporelle</a:t>
            </a:r>
            <a:endParaRPr lang="en-US" sz="647" dirty="0"/>
          </a:p>
        </p:txBody>
      </p:sp>
      <p:sp>
        <p:nvSpPr>
          <p:cNvPr id="63" name="Text 61"/>
          <p:cNvSpPr/>
          <p:nvPr/>
        </p:nvSpPr>
        <p:spPr>
          <a:xfrm>
            <a:off x="7380833" y="4033540"/>
            <a:ext cx="85367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7200" y="4446984"/>
            <a:ext cx="8229600" cy="296466"/>
          </a:xfrm>
          <a:prstGeom prst="roundRect">
            <a:avLst>
              <a:gd name="adj" fmla="val 25703"/>
            </a:avLst>
          </a:prstGeom>
          <a:solidFill>
            <a:srgbClr val="002E5B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902680" y="4525566"/>
            <a:ext cx="0" cy="13930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5788" y="4525566"/>
            <a:ext cx="370470" cy="139303"/>
          </a:xfrm>
          <a:prstGeom prst="rect">
            <a:avLst/>
          </a:prstGeom>
          <a:noFill/>
          <a:ln/>
        </p:spPr>
        <p:txBody>
          <a:bodyPr wrap="none" lIns="0" tIns="0" rIns="100013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CSP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06264" y="4534719"/>
            <a:ext cx="7551948" cy="13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b="1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Constraint Satisfaction Problem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contraintes dures 100 % (non-chevauchement enseignant/salle/groupe, capacité, indisponibilités) · heuristiques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FFFFFF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MRV–Degree–LCV</a:t>
            </a:r>
            <a:endParaRPr lang="en-US" sz="647" dirty="0"/>
          </a:p>
        </p:txBody>
      </p:sp>
      <p:pic>
        <p:nvPicPr>
          <p:cNvPr id="68" name="Image 0" descr="/tmp/h2p-fit-1790069974126-vfxx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0" name="Image 1" descr="/tmp/h2p-fit-1790069974126-3xpl8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92157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4 · RÉALISATION #1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6148"/>
            <a:ext cx="5130373" cy="248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 TAFEM &amp; pipeline OCR hybride par IA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457200" y="91752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67568" y="400050"/>
            <a:ext cx="453969" cy="224444"/>
          </a:xfrm>
          <a:prstGeom prst="rect">
            <a:avLst/>
          </a:prstGeom>
          <a:noFill/>
          <a:ln/>
        </p:spPr>
        <p:txBody>
          <a:bodyPr wrap="none" lIns="0" tIns="42863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8C9AA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88975"/>
            <a:ext cx="1451521" cy="986396"/>
          </a:xfrm>
          <a:prstGeom prst="roundRect">
            <a:avLst>
              <a:gd name="adj" fmla="val 9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099691"/>
            <a:ext cx="1451521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149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71799"/>
            <a:ext cx="1451521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356" y="1210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564356" y="1424732"/>
            <a:ext cx="123720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ÉTAPE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4356" y="1585466"/>
            <a:ext cx="123720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 CSV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4356" y="1748321"/>
            <a:ext cx="1311441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Liste ministérielle TAFEM · réconciliation CNE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08721" y="1460729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151608" y="1088975"/>
            <a:ext cx="1451632" cy="986396"/>
          </a:xfrm>
          <a:prstGeom prst="roundRect">
            <a:avLst>
              <a:gd name="adj" fmla="val 9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151608" y="1099691"/>
            <a:ext cx="1451632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9669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1608" y="2071799"/>
            <a:ext cx="145163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5180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764" y="1210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2258764" y="1424732"/>
            <a:ext cx="123732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ÉTAPE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58764" y="1585466"/>
            <a:ext cx="123732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Pré-inscription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58764" y="1748321"/>
            <a:ext cx="131155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ligne · consentement CNDP obligatoire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03241" y="1460729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46128" y="1088975"/>
            <a:ext cx="1451632" cy="986396"/>
          </a:xfrm>
          <a:prstGeom prst="roundRect">
            <a:avLst>
              <a:gd name="adj" fmla="val 9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46128" y="1099691"/>
            <a:ext cx="1451632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94188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6128" y="2071799"/>
            <a:ext cx="145163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9700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3284" y="1210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3953284" y="1424732"/>
            <a:ext cx="123732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ÉTAPE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53284" y="1585466"/>
            <a:ext cx="123732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OCR Hybride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53284" y="1748321"/>
            <a:ext cx="131155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Gemini 1.5 Flash Vision + fallback Tesseract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97760" y="1460729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540648" y="1088975"/>
            <a:ext cx="1451632" cy="986396"/>
          </a:xfrm>
          <a:prstGeom prst="roundRect">
            <a:avLst>
              <a:gd name="adj" fmla="val 9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540648" y="1099691"/>
            <a:ext cx="1451632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8708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40648" y="2071799"/>
            <a:ext cx="145163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44220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47804" y="1210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42" name="Text 40"/>
          <p:cNvSpPr/>
          <p:nvPr/>
        </p:nvSpPr>
        <p:spPr>
          <a:xfrm>
            <a:off x="5647804" y="1424732"/>
            <a:ext cx="123732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ÉTAPE 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47804" y="1585466"/>
            <a:ext cx="123732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Vérification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47804" y="1748321"/>
            <a:ext cx="131155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Triple concordance CNE (CSV) / CIN (OCR) / Bac (guichet)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92280" y="1460729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7235168" y="1088975"/>
            <a:ext cx="1451632" cy="986396"/>
          </a:xfrm>
          <a:prstGeom prst="roundRect">
            <a:avLst>
              <a:gd name="adj" fmla="val 9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7235168" y="1099691"/>
            <a:ext cx="1451632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3228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35168" y="2071799"/>
            <a:ext cx="145163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38740" y="1088975"/>
            <a:ext cx="0" cy="98639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42324" y="1210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7342324" y="1424732"/>
            <a:ext cx="123732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ÉTAPE 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42324" y="1585466"/>
            <a:ext cx="123732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APOGEE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342324" y="1748321"/>
            <a:ext cx="133630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Inscription définitive + code généré</a:t>
            </a:r>
            <a:endParaRPr lang="en-US" sz="619" dirty="0"/>
          </a:p>
        </p:txBody>
      </p:sp>
      <p:sp>
        <p:nvSpPr>
          <p:cNvPr id="55" name="Text 53"/>
          <p:cNvSpPr/>
          <p:nvPr/>
        </p:nvSpPr>
        <p:spPr>
          <a:xfrm>
            <a:off x="457200" y="2175383"/>
            <a:ext cx="4064794" cy="773534"/>
          </a:xfrm>
          <a:prstGeom prst="roundRect">
            <a:avLst>
              <a:gd name="adj" fmla="val 9851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71488" y="2175383"/>
            <a:ext cx="0" cy="773534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0075" y="2275396"/>
            <a:ext cx="38076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8C6A1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8C6A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AVANT — SAISIE MANUELLE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0075" y="245399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B832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914" dirty="0"/>
          </a:p>
        </p:txBody>
      </p:sp>
      <p:sp>
        <p:nvSpPr>
          <p:cNvPr id="59" name="Text 57"/>
          <p:cNvSpPr/>
          <p:nvPr/>
        </p:nvSpPr>
        <p:spPr>
          <a:xfrm>
            <a:off x="735806" y="2446846"/>
            <a:ext cx="3671888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 minutes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 dossier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0075" y="259753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B832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914" dirty="0"/>
          </a:p>
        </p:txBody>
      </p:sp>
      <p:sp>
        <p:nvSpPr>
          <p:cNvPr id="61" name="Text 59"/>
          <p:cNvSpPr/>
          <p:nvPr/>
        </p:nvSpPr>
        <p:spPr>
          <a:xfrm>
            <a:off x="735806" y="2590391"/>
            <a:ext cx="3671888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Risque d'erreur de transcription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00075" y="274107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B832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914" dirty="0"/>
          </a:p>
        </p:txBody>
      </p:sp>
      <p:sp>
        <p:nvSpPr>
          <p:cNvPr id="63" name="Text 61"/>
          <p:cNvSpPr/>
          <p:nvPr/>
        </p:nvSpPr>
        <p:spPr>
          <a:xfrm>
            <a:off x="735806" y="2733935"/>
            <a:ext cx="3671888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 de détection de doublon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622006" y="2175383"/>
            <a:ext cx="4064794" cy="773534"/>
          </a:xfrm>
          <a:prstGeom prst="roundRect">
            <a:avLst>
              <a:gd name="adj" fmla="val 9851"/>
            </a:avLst>
          </a:prstGeom>
          <a:solidFill>
            <a:srgbClr val="E6E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4636294" y="2175383"/>
            <a:ext cx="0" cy="773534"/>
          </a:xfrm>
          <a:prstGeom prst="line">
            <a:avLst/>
          </a:prstGeom>
          <a:noFill/>
          <a:ln w="28575">
            <a:solidFill>
              <a:srgbClr val="002E5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64881" y="2275396"/>
            <a:ext cx="38076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2E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APRÈS — PIPELINE OCR IA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764881" y="245399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sp>
        <p:nvSpPr>
          <p:cNvPr id="68" name="Text 66"/>
          <p:cNvSpPr/>
          <p:nvPr/>
        </p:nvSpPr>
        <p:spPr>
          <a:xfrm>
            <a:off x="4900613" y="2446846"/>
            <a:ext cx="3671888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2 secondes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 dossier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64881" y="259753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sp>
        <p:nvSpPr>
          <p:cNvPr id="70" name="Text 68"/>
          <p:cNvSpPr/>
          <p:nvPr/>
        </p:nvSpPr>
        <p:spPr>
          <a:xfrm>
            <a:off x="4900613" y="2590391"/>
            <a:ext cx="3671888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Score de confiance IA (0,94 typique)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64881" y="274107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sp>
        <p:nvSpPr>
          <p:cNvPr id="72" name="Text 70"/>
          <p:cNvSpPr/>
          <p:nvPr/>
        </p:nvSpPr>
        <p:spPr>
          <a:xfrm>
            <a:off x="4900613" y="2733935"/>
            <a:ext cx="3671888" cy="11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Alerte automatique doublon + falsification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57200" y="3034643"/>
            <a:ext cx="8229600" cy="280392"/>
          </a:xfrm>
          <a:prstGeom prst="roundRect">
            <a:avLst>
              <a:gd name="adj" fmla="val 27176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467916" y="3034643"/>
            <a:ext cx="0" cy="280392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3034643"/>
            <a:ext cx="8229600" cy="374506"/>
          </a:xfrm>
          <a:prstGeom prst="rect">
            <a:avLst/>
          </a:prstGeom>
          <a:noFill/>
          <a:ln/>
        </p:spPr>
        <p:txBody>
          <a:bodyPr wrap="square" lIns="114300" tIns="78581" rIns="114300" bIns="78581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b="1" i="1" spc="26" kern="0" dirty="0">
                <a:solidFill>
                  <a:srgbClr val="7A5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·300× plus rapide·</a:t>
            </a:r>
            <a:pPr algn="l" indent="0" marL="0">
              <a:lnSpc>
                <a:spcPts val="970"/>
              </a:lnSpc>
              <a:buNone/>
            </a:pPr>
            <a:r>
              <a:rPr lang="en-US" sz="800" i="1" dirty="0">
                <a:solidFill>
                  <a:srgbClr val="5A44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JSON structuré retourné : CNE, CIN, noms FR/AR, date/ville de naissance, série et note du Bac, score de confiance et alerte de doublon.</a:t>
            </a:r>
            <a:endParaRPr lang="en-US" sz="800" dirty="0"/>
          </a:p>
        </p:txBody>
      </p:sp>
      <p:pic>
        <p:nvPicPr>
          <p:cNvPr id="76" name="Image 0" descr="/tmp/h2p-fit-1790069975195-sr5o4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8" name="Image 1" descr="/tmp/h2p-fit-1790069975201-qmcr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92157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4 · RÉALISATION #2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6148"/>
            <a:ext cx="5302515" cy="23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Émargement QR anti-fraude &amp; synergie cahier de texte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457200" y="901117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67568" y="400050"/>
            <a:ext cx="453969" cy="224444"/>
          </a:xfrm>
          <a:prstGeom prst="rect">
            <a:avLst/>
          </a:prstGeom>
          <a:noFill/>
          <a:ln/>
        </p:spPr>
        <p:txBody>
          <a:bodyPr wrap="none" lIns="0" tIns="42863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8C9AA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72567"/>
            <a:ext cx="2666963" cy="329940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086855"/>
            <a:ext cx="2666963" cy="0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0591" y="1072567"/>
            <a:ext cx="0" cy="329940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368403"/>
            <a:ext cx="2666963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1072567"/>
            <a:ext cx="0" cy="329940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219" y="124401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3651" y="127044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607219" y="1658355"/>
            <a:ext cx="23669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modes d'appel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219" y="1916869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944" y="1866863"/>
            <a:ext cx="228120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Trombinoscope tactile </a:t>
            </a:r>
            <a:pPr algn="l" indent="0" marL="0">
              <a:lnSpc>
                <a:spcPts val="938"/>
              </a:lnSpc>
              <a:buNone/>
            </a:pPr>
            <a:r>
              <a:rPr lang="en-US" sz="647" i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(présent / absent / retard)</a:t>
            </a:r>
            <a:endParaRPr lang="en-US" sz="647" dirty="0"/>
          </a:p>
        </p:txBody>
      </p:sp>
      <p:sp>
        <p:nvSpPr>
          <p:cNvPr id="16" name="Text 14"/>
          <p:cNvSpPr/>
          <p:nvPr/>
        </p:nvSpPr>
        <p:spPr>
          <a:xfrm>
            <a:off x="607219" y="2078831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944" y="2028825"/>
            <a:ext cx="2281200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 code rotatif : token éphémère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s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géolocalisation + verrouillage appareil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7219" y="2359893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944" y="2309887"/>
            <a:ext cx="228120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Dictée vocale des absents </a:t>
            </a:r>
            <a:pPr algn="l" indent="0" marL="0">
              <a:lnSpc>
                <a:spcPts val="938"/>
              </a:lnSpc>
              <a:buNone/>
            </a:pPr>
            <a:r>
              <a:rPr lang="en-US" sz="647" i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(Web Speech API)</a:t>
            </a:r>
            <a:endParaRPr lang="en-US" sz="647" dirty="0"/>
          </a:p>
        </p:txBody>
      </p:sp>
      <p:sp>
        <p:nvSpPr>
          <p:cNvPr id="20" name="Text 18"/>
          <p:cNvSpPr/>
          <p:nvPr/>
        </p:nvSpPr>
        <p:spPr>
          <a:xfrm>
            <a:off x="607219" y="2500424"/>
            <a:ext cx="247665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25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Parcours 1-clic : Filière → Planning → Appel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38463" y="1072567"/>
            <a:ext cx="2666963" cy="329940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38463" y="1086855"/>
            <a:ext cx="2666963" cy="0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1854" y="1072567"/>
            <a:ext cx="0" cy="329940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8463" y="4368403"/>
            <a:ext cx="2666963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2035" y="1072567"/>
            <a:ext cx="0" cy="329940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8482" y="124401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14913" y="127044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28" name="Text 26"/>
          <p:cNvSpPr/>
          <p:nvPr/>
        </p:nvSpPr>
        <p:spPr>
          <a:xfrm>
            <a:off x="3388482" y="1658355"/>
            <a:ext cx="2476653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Anti-fraude technologique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8482" y="1916869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74207" y="1866863"/>
            <a:ext cx="228120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rotatif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secondes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neutralise partage capture</a:t>
            </a:r>
            <a:endParaRPr lang="en-US" sz="647" dirty="0"/>
          </a:p>
        </p:txBody>
      </p:sp>
      <p:sp>
        <p:nvSpPr>
          <p:cNvPr id="31" name="Text 29"/>
          <p:cNvSpPr/>
          <p:nvPr/>
        </p:nvSpPr>
        <p:spPr>
          <a:xfrm>
            <a:off x="3388482" y="2078831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74207" y="2028825"/>
            <a:ext cx="228120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Géolocalisation GPS obligatoire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88482" y="2240793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74207" y="2190787"/>
            <a:ext cx="228120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Verrouillage appareil </a:t>
            </a:r>
            <a:pPr algn="l" indent="0" marL="0">
              <a:lnSpc>
                <a:spcPts val="938"/>
              </a:lnSpc>
              <a:buNone/>
            </a:pPr>
            <a:r>
              <a:rPr lang="en-US" sz="647" i="1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 scan = 1 étudiant)</a:t>
            </a:r>
            <a:endParaRPr lang="en-US" sz="647" dirty="0"/>
          </a:p>
        </p:txBody>
      </p:sp>
      <p:sp>
        <p:nvSpPr>
          <p:cNvPr id="35" name="Text 33"/>
          <p:cNvSpPr/>
          <p:nvPr/>
        </p:nvSpPr>
        <p:spPr>
          <a:xfrm>
            <a:off x="3388482" y="2402756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74207" y="2352749"/>
            <a:ext cx="2281200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Justification sous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 h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seuil éliminatoire </a:t>
            </a:r>
            <a:pPr algn="l" indent="0" marL="0">
              <a:lnSpc>
                <a:spcPts val="938"/>
              </a:lnSpc>
              <a:buNone/>
            </a:pPr>
            <a:r>
              <a:rPr lang="en-US" sz="647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Art. 14 ENCG</a:t>
            </a:r>
            <a:endParaRPr lang="en-US" sz="647" dirty="0"/>
          </a:p>
        </p:txBody>
      </p:sp>
      <p:sp>
        <p:nvSpPr>
          <p:cNvPr id="37" name="Text 35"/>
          <p:cNvSpPr/>
          <p:nvPr/>
        </p:nvSpPr>
        <p:spPr>
          <a:xfrm>
            <a:off x="3388482" y="3994472"/>
            <a:ext cx="2366925" cy="227484"/>
          </a:xfrm>
          <a:prstGeom prst="roundRect">
            <a:avLst>
              <a:gd name="adj" fmla="val 25123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388482" y="3998044"/>
            <a:ext cx="236692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388482" y="3994472"/>
            <a:ext cx="2366925" cy="227484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absences = alerte orange · </a:t>
            </a:r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≥3</a:t>
            </a:r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rouge (exclusion)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19726" y="1072567"/>
            <a:ext cx="2667074" cy="329940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19726" y="1086855"/>
            <a:ext cx="2667074" cy="0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3228" y="1072567"/>
            <a:ext cx="0" cy="329940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19726" y="4368403"/>
            <a:ext cx="2667074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23297" y="1072567"/>
            <a:ext cx="0" cy="3299408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9744" y="124401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6176" y="127044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969" dirty="0"/>
          </a:p>
        </p:txBody>
      </p:sp>
      <p:sp>
        <p:nvSpPr>
          <p:cNvPr id="47" name="Text 45"/>
          <p:cNvSpPr/>
          <p:nvPr/>
        </p:nvSpPr>
        <p:spPr>
          <a:xfrm>
            <a:off x="6169744" y="1658355"/>
            <a:ext cx="2367037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Synergie cahier de texte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69744" y="1916869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255469" y="1866863"/>
            <a:ext cx="2281312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Drapeau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sync_to_textbook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Textbook::updateOrCreate</a:t>
            </a:r>
            <a:endParaRPr lang="en-US" sz="647" dirty="0"/>
          </a:p>
        </p:txBody>
      </p:sp>
      <p:sp>
        <p:nvSpPr>
          <p:cNvPr id="50" name="Text 48"/>
          <p:cNvSpPr/>
          <p:nvPr/>
        </p:nvSpPr>
        <p:spPr>
          <a:xfrm>
            <a:off x="6169744" y="2078831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55469" y="2028825"/>
            <a:ext cx="2281312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Séance 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2h</a:t>
            </a:r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consignée en 1 action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69744" y="2240793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255469" y="2190787"/>
            <a:ext cx="2281312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attestation service fait PDF certifié</a:t>
            </a:r>
            <a:endParaRPr lang="en-US" sz="647" dirty="0"/>
          </a:p>
        </p:txBody>
      </p:sp>
      <p:sp>
        <p:nvSpPr>
          <p:cNvPr id="54" name="Text 52"/>
          <p:cNvSpPr/>
          <p:nvPr/>
        </p:nvSpPr>
        <p:spPr>
          <a:xfrm>
            <a:off x="6169744" y="2402756"/>
            <a:ext cx="35719" cy="35719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255469" y="2352749"/>
            <a:ext cx="2281312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Index composites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attendances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: latence 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12 ms</a:t>
            </a:r>
            <a:pPr algn="l" indent="0" marL="0">
              <a:lnSpc>
                <a:spcPts val="938"/>
              </a:lnSpc>
              <a:buNone/>
            </a:pPr>
            <a:r>
              <a:rPr lang="en-US" sz="647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50 000 lignes</a:t>
            </a:r>
            <a:endParaRPr lang="en-US" sz="647" dirty="0"/>
          </a:p>
        </p:txBody>
      </p:sp>
      <p:sp>
        <p:nvSpPr>
          <p:cNvPr id="56" name="Text 54"/>
          <p:cNvSpPr/>
          <p:nvPr/>
        </p:nvSpPr>
        <p:spPr>
          <a:xfrm>
            <a:off x="6169744" y="3994472"/>
            <a:ext cx="2367037" cy="227484"/>
          </a:xfrm>
          <a:prstGeom prst="roundRect">
            <a:avLst>
              <a:gd name="adj" fmla="val 25123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169744" y="3998044"/>
            <a:ext cx="2367037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6169744" y="3994472"/>
            <a:ext cx="2367037" cy="227484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Amélioration </a:t>
            </a:r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 85 %</a:t>
            </a:r>
            <a:pPr algn="ctr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version non indexée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4471988"/>
            <a:ext cx="8229600" cy="271463"/>
          </a:xfrm>
          <a:prstGeom prst="roundRect">
            <a:avLst>
              <a:gd name="adj" fmla="val 28070"/>
            </a:avLst>
          </a:prstGeom>
          <a:solidFill>
            <a:srgbClr val="002E5B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1844873" y="4543425"/>
            <a:ext cx="0" cy="128588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0075" y="4543425"/>
            <a:ext cx="1298377" cy="128588"/>
          </a:xfrm>
          <a:prstGeom prst="rect">
            <a:avLst/>
          </a:prstGeom>
          <a:noFill/>
          <a:ln/>
        </p:spPr>
        <p:txBody>
          <a:bodyPr wrap="none" lIns="0" tIns="0" rIns="100013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WEBSOCKETS REVERB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948458" y="4551685"/>
            <a:ext cx="6595467" cy="1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 QR en direct · cache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FFFFF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Query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invalidé · état synchronisé temps réel sans rechargement</a:t>
            </a:r>
            <a:endParaRPr lang="en-US" sz="800" dirty="0"/>
          </a:p>
        </p:txBody>
      </p:sp>
      <p:pic>
        <p:nvPicPr>
          <p:cNvPr id="63" name="Image 0" descr="/tmp/h2p-fit-1790069976480-nx7sn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5" name="Image 1" descr="/tmp/h2p-fit-1790069976306-k548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414"/>
            <a:ext cx="192157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4 · RÉALISATION #3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16148"/>
            <a:ext cx="5517877" cy="23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Guichet électronique &amp; documents certifiés infalsifiables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457200" y="901117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67568" y="400050"/>
            <a:ext cx="453969" cy="224444"/>
          </a:xfrm>
          <a:prstGeom prst="rect">
            <a:avLst/>
          </a:prstGeom>
          <a:noFill/>
          <a:ln/>
        </p:spPr>
        <p:txBody>
          <a:bodyPr wrap="none" lIns="0" tIns="42863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8C9AA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2925" y="1072567"/>
            <a:ext cx="514350" cy="51435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6345" y="1186867"/>
            <a:ext cx="14001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42950" y="13583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57200" y="1629780"/>
            <a:ext cx="685800" cy="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Demande étudiant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869765"/>
            <a:ext cx="685800" cy="29620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Consentement CNDP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25203" y="1211870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2428875" y="1072567"/>
            <a:ext cx="514350" cy="514350"/>
          </a:xfrm>
          <a:prstGeom prst="ellipse">
            <a:avLst/>
          </a:prstGeom>
          <a:solidFill>
            <a:srgbClr val="002E5B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42295" y="1186867"/>
            <a:ext cx="14001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2628900" y="13583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343150" y="1629780"/>
            <a:ext cx="685800" cy="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Notification admin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43150" y="1869765"/>
            <a:ext cx="685800" cy="30289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Polling </a:t>
            </a:r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sec</a:t>
            </a:r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NotificationBell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1153" y="1211870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4314825" y="1072567"/>
            <a:ext cx="514350" cy="51435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28245" y="1186867"/>
            <a:ext cx="14001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4514850" y="13583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4208069" y="1629780"/>
            <a:ext cx="727751" cy="11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76"/>
              </a:lnSpc>
              <a:buNone/>
            </a:pPr>
            <a:r>
              <a:rPr lang="en-US" sz="647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Validation 1-clic</a:t>
            </a:r>
            <a:endParaRPr lang="en-US" sz="647" dirty="0"/>
          </a:p>
        </p:txBody>
      </p:sp>
      <p:sp>
        <p:nvSpPr>
          <p:cNvPr id="22" name="Text 20"/>
          <p:cNvSpPr/>
          <p:nvPr/>
        </p:nvSpPr>
        <p:spPr>
          <a:xfrm>
            <a:off x="3898702" y="1771204"/>
            <a:ext cx="1346597" cy="30959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Valider &amp; Signer · </a:t>
            </a:r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SHA-256(ID+timestamp+signataire+titulaire)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97103" y="1211870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6200775" y="1072567"/>
            <a:ext cx="514350" cy="514350"/>
          </a:xfrm>
          <a:prstGeom prst="ellipse">
            <a:avLst/>
          </a:prstGeom>
          <a:solidFill>
            <a:srgbClr val="002E5B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14195" y="1186867"/>
            <a:ext cx="14001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6400800" y="13583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072695" y="1629780"/>
            <a:ext cx="770399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776"/>
              </a:lnSpc>
              <a:buNone/>
            </a:pPr>
            <a:r>
              <a:rPr lang="en-US" sz="647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Livraison double</a:t>
            </a:r>
            <a:endParaRPr lang="en-US" sz="647" dirty="0"/>
          </a:p>
        </p:txBody>
      </p:sp>
      <p:sp>
        <p:nvSpPr>
          <p:cNvPr id="28" name="Text 26"/>
          <p:cNvSpPr/>
          <p:nvPr/>
        </p:nvSpPr>
        <p:spPr>
          <a:xfrm>
            <a:off x="6115050" y="1771204"/>
            <a:ext cx="685800" cy="45769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 + email Resend </a:t>
            </a:r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(PDF A4 + QR code)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83053" y="1211870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8086725" y="1072567"/>
            <a:ext cx="514350" cy="514350"/>
          </a:xfrm>
          <a:prstGeom prst="ellipse">
            <a:avLst/>
          </a:prstGeom>
          <a:solidFill>
            <a:srgbClr val="C9A063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00145" y="1186867"/>
            <a:ext cx="14001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8286750" y="13583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8001000" y="1629780"/>
            <a:ext cx="685800" cy="212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Vérification publique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04324" y="1869765"/>
            <a:ext cx="1079264" cy="45769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 QR → </a:t>
            </a:r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/verify/document/{token}</a:t>
            </a:r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797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DOCUMENT_VALIDÉ_ET_AUTHENTIQUE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2282651"/>
            <a:ext cx="2686050" cy="1021221"/>
          </a:xfrm>
          <a:prstGeom prst="roundRect">
            <a:avLst>
              <a:gd name="adj" fmla="val 746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7916" y="2282651"/>
            <a:ext cx="0" cy="1021221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931" y="238266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8" name="Text 36"/>
          <p:cNvSpPr/>
          <p:nvPr/>
        </p:nvSpPr>
        <p:spPr>
          <a:xfrm>
            <a:off x="792956" y="2398402"/>
            <a:ext cx="2235994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Sceau cryptographique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2931" y="2632695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4369" y="2582689"/>
            <a:ext cx="236458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Empreinte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SHA-256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gravée sur le PDF A4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2931" y="2778361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4369" y="2728354"/>
            <a:ext cx="236458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 code SVG vectoriel pointant vers </a:t>
            </a:r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</a:t>
            </a:r>
            <a:endParaRPr lang="en-US" sz="619" dirty="0"/>
          </a:p>
        </p:txBody>
      </p:sp>
      <p:sp>
        <p:nvSpPr>
          <p:cNvPr id="43" name="Text 41"/>
          <p:cNvSpPr/>
          <p:nvPr/>
        </p:nvSpPr>
        <p:spPr>
          <a:xfrm>
            <a:off x="592931" y="2924026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4369" y="2874020"/>
            <a:ext cx="236458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PublicVerificationController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décode + compare + journalise </a:t>
            </a:r>
            <a:pPr algn="l" indent="0" marL="0">
              <a:lnSpc>
                <a:spcPts val="866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(Loi 53-05)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28975" y="2282651"/>
            <a:ext cx="2686050" cy="1021221"/>
          </a:xfrm>
          <a:prstGeom prst="roundRect">
            <a:avLst>
              <a:gd name="adj" fmla="val 746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239691" y="2282651"/>
            <a:ext cx="0" cy="1021221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706" y="238266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406" dirty="0"/>
          </a:p>
        </p:txBody>
      </p:sp>
      <p:sp>
        <p:nvSpPr>
          <p:cNvPr id="48" name="Text 46"/>
          <p:cNvSpPr/>
          <p:nvPr/>
        </p:nvSpPr>
        <p:spPr>
          <a:xfrm>
            <a:off x="3564731" y="2398402"/>
            <a:ext cx="2235994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Ségrégation RH </a:t>
            </a:r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(CGI Art. 73-II-F)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64706" y="2632695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436144" y="2582689"/>
            <a:ext cx="236458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Garde-fou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403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: vacataire demandant attestation travail/salaire = rejet + motif juridique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364706" y="2888307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36144" y="2838301"/>
            <a:ext cx="236458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Calcul paie : </a:t>
            </a:r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Brut − 17 % IGR = Net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64706" y="3033973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436144" y="2983967"/>
            <a:ext cx="2364581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Attestation fiscale PDF + bordereau de décompte + contrat d'engagement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00750" y="2282651"/>
            <a:ext cx="2686050" cy="1021221"/>
          </a:xfrm>
          <a:prstGeom prst="roundRect">
            <a:avLst>
              <a:gd name="adj" fmla="val 7462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011466" y="2282651"/>
            <a:ext cx="0" cy="1021221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36481" y="238266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58" name="Text 56"/>
          <p:cNvSpPr/>
          <p:nvPr/>
        </p:nvSpPr>
        <p:spPr>
          <a:xfrm>
            <a:off x="6336506" y="2398402"/>
            <a:ext cx="2235994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Parapheur 3 niveaux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36481" y="2632695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07919" y="2582689"/>
            <a:ext cx="236458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Dépôt → Visa Chef de Département → Signature Direction</a:t>
            </a:r>
            <a:endParaRPr lang="en-US" sz="619" dirty="0"/>
          </a:p>
        </p:txBody>
      </p:sp>
      <p:sp>
        <p:nvSpPr>
          <p:cNvPr id="61" name="Text 59"/>
          <p:cNvSpPr/>
          <p:nvPr/>
        </p:nvSpPr>
        <p:spPr>
          <a:xfrm>
            <a:off x="6136481" y="2778361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07919" y="2728354"/>
            <a:ext cx="236458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Détection anomalies de dates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36481" y="2924026"/>
            <a:ext cx="28575" cy="28575"/>
          </a:xfrm>
          <a:prstGeom prst="ellipse">
            <a:avLst/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207919" y="2874020"/>
            <a:ext cx="236458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Immatriculation véhicule obligatoire </a:t>
            </a:r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(voiture personnelle)</a:t>
            </a:r>
            <a:endParaRPr lang="en-US" sz="619" dirty="0"/>
          </a:p>
        </p:txBody>
      </p:sp>
      <p:sp>
        <p:nvSpPr>
          <p:cNvPr id="65" name="Text 63"/>
          <p:cNvSpPr/>
          <p:nvPr/>
        </p:nvSpPr>
        <p:spPr>
          <a:xfrm>
            <a:off x="457200" y="3389598"/>
            <a:ext cx="8229600" cy="261975"/>
          </a:xfrm>
          <a:prstGeom prst="roundRect">
            <a:avLst>
              <a:gd name="adj" fmla="val 29087"/>
            </a:avLst>
          </a:prstGeom>
          <a:solidFill>
            <a:srgbClr val="F7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67916" y="3389598"/>
            <a:ext cx="0" cy="261975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3389598"/>
            <a:ext cx="8229600" cy="349907"/>
          </a:xfrm>
          <a:prstGeom prst="rect">
            <a:avLst/>
          </a:prstGeom>
          <a:noFill/>
          <a:ln/>
        </p:spPr>
        <p:txBody>
          <a:bodyPr wrap="square" lIns="114300" tIns="71438" rIns="114300" bIns="71438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b="1" i="1" spc="26" kern="0" dirty="0">
                <a:solidFill>
                  <a:srgbClr val="7A5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ZERO-TRUST —</a:t>
            </a:r>
            <a:pPr algn="l" indent="0" marL="0">
              <a:lnSpc>
                <a:spcPts val="938"/>
              </a:lnSpc>
              <a:buNone/>
            </a:pPr>
            <a:r>
              <a:rPr lang="en-US" sz="800" i="1" dirty="0">
                <a:solidFill>
                  <a:srgbClr val="5A44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tout tiers peut vérifier l'authenticité d'un document sans contacter l'administration · conformité </a:t>
            </a:r>
            <a:pPr algn="l" indent="0" marL="0">
              <a:lnSpc>
                <a:spcPts val="938"/>
              </a:lnSpc>
              <a:buNone/>
            </a:pPr>
            <a:r>
              <a:rPr lang="en-US" sz="800" b="1" i="1" spc="26" kern="0" dirty="0">
                <a:solidFill>
                  <a:srgbClr val="7A5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Loi 53-05</a:t>
            </a:r>
            <a:pPr algn="l" indent="0" marL="0">
              <a:lnSpc>
                <a:spcPts val="938"/>
              </a:lnSpc>
              <a:buNone/>
            </a:pPr>
            <a:r>
              <a:rPr lang="en-US" sz="800" i="1" dirty="0">
                <a:solidFill>
                  <a:srgbClr val="5A44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sur l'échange électronique de données juridiques.</a:t>
            </a:r>
            <a:endParaRPr lang="en-US" sz="800" dirty="0"/>
          </a:p>
        </p:txBody>
      </p:sp>
      <p:pic>
        <p:nvPicPr>
          <p:cNvPr id="68" name="Image 0" descr="/tmp/h2p-fit-1790069977736-ykln5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7616" y="100013"/>
            <a:ext cx="712477" cy="228600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8155818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0" name="Image 1" descr="/tmp/h2p-fit-1790069978064-iwgek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87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530" y="3571875"/>
            <a:ext cx="216347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spc="-630" kern="0" dirty="0">
                <a:solidFill>
                  <a:srgbClr val="002E5B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5750" dirty="0"/>
          </a:p>
        </p:txBody>
      </p:sp>
      <p:sp>
        <p:nvSpPr>
          <p:cNvPr id="3" name="Text 1"/>
          <p:cNvSpPr/>
          <p:nvPr/>
        </p:nvSpPr>
        <p:spPr>
          <a:xfrm>
            <a:off x="457200" y="312539"/>
            <a:ext cx="202221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3 · SÉCURITÉ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7561"/>
            <a:ext cx="86360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Défense en profondeur &amp; conformité réglementaire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80545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34045"/>
            <a:ext cx="4933541" cy="3980855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944761"/>
            <a:ext cx="4933541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87169" y="934045"/>
            <a:ext cx="0" cy="3980855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11328"/>
            <a:ext cx="4933541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934045"/>
            <a:ext cx="0" cy="3980855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494" y="1012627"/>
            <a:ext cx="4804953" cy="3510260"/>
          </a:xfrm>
          <a:prstGeom prst="roundRect">
            <a:avLst>
              <a:gd name="adj" fmla="val 1628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/tmp/h2p-fit-1790069983053-twklv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166106"/>
            <a:ext cx="4804953" cy="320330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494" y="4522887"/>
            <a:ext cx="4804953" cy="327720"/>
          </a:xfrm>
          <a:prstGeom prst="rect">
            <a:avLst/>
          </a:prstGeom>
          <a:noFill/>
          <a:ln/>
        </p:spPr>
        <p:txBody>
          <a:bodyPr wrap="square" lIns="42863" tIns="71438" rIns="42863" bIns="28575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i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Figure : Architecture de sécurité multicouche ENCG ERP — défense en profondeur (Utilisateurs → Périmètre → Applicative → Données → Docker)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562191" y="934045"/>
            <a:ext cx="3124609" cy="941636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562191" y="944761"/>
            <a:ext cx="312460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3228" y="934045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62191" y="1872109"/>
            <a:ext cx="312460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65763" y="934045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347" y="11959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5869372" y="1207294"/>
            <a:ext cx="271027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Défense en profondeur — 3 paliers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69347" y="1381646"/>
            <a:ext cx="29102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Middleware Sanctum + Role → Model Policy anti-IDOR → Scope métier filtré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institution_id / group_id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PostgreSQL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562191" y="1947118"/>
            <a:ext cx="3124609" cy="941636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562191" y="1957834"/>
            <a:ext cx="312460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3228" y="1947118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62191" y="2885182"/>
            <a:ext cx="312460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65763" y="1947118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69347" y="214736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406" dirty="0"/>
          </a:p>
        </p:txBody>
      </p:sp>
      <p:sp>
        <p:nvSpPr>
          <p:cNvPr id="28" name="Text 25"/>
          <p:cNvSpPr/>
          <p:nvPr/>
        </p:nvSpPr>
        <p:spPr>
          <a:xfrm>
            <a:off x="5869372" y="2158752"/>
            <a:ext cx="271027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forensique inviolable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69347" y="2333104"/>
            <a:ext cx="2910297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Chaînage type Merkle :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ts val="970"/>
              </a:lnSpc>
              <a:buNone/>
            </a:pPr>
            <a:r>
              <a:rPr lang="en-US" sz="800" baseline="-400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SHA-256(user|action|ip|payload|old|new|timestamp|H</a:t>
            </a:r>
            <a:pPr algn="l" indent="0" marL="0">
              <a:lnSpc>
                <a:spcPts val="970"/>
              </a:lnSpc>
              <a:buNone/>
            </a:pPr>
            <a:r>
              <a:rPr lang="en-US" sz="800" baseline="-40000" dirty="0">
                <a:solidFill>
                  <a:srgbClr val="1E4A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n-1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verifyChainIntegrity()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détecte toute modification directe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62191" y="2960191"/>
            <a:ext cx="3124609" cy="941636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562191" y="2970907"/>
            <a:ext cx="312460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683228" y="2960191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62191" y="3898255"/>
            <a:ext cx="312460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65763" y="2960191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69347" y="322205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406" dirty="0"/>
          </a:p>
        </p:txBody>
      </p:sp>
      <p:sp>
        <p:nvSpPr>
          <p:cNvPr id="36" name="Text 33"/>
          <p:cNvSpPr/>
          <p:nvPr/>
        </p:nvSpPr>
        <p:spPr>
          <a:xfrm>
            <a:off x="5869372" y="3233440"/>
            <a:ext cx="271027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Conformité CNDP (Loi 09-08)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669347" y="3407792"/>
            <a:ext cx="29102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Consentement éclairé · droits DSAR asynchrones · stripping identifiants avant LLM · registre des traitements exportable A4 certifié </a:t>
            </a:r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(D-W-2025/ENCG-FES-0908)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562191" y="3973264"/>
            <a:ext cx="3124609" cy="941636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5562191" y="3983980"/>
            <a:ext cx="312460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683228" y="3973264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562191" y="4911328"/>
            <a:ext cx="312460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565763" y="3973264"/>
            <a:ext cx="0" cy="941636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69347" y="423512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44" name="Text 41"/>
          <p:cNvSpPr/>
          <p:nvPr/>
        </p:nvSpPr>
        <p:spPr>
          <a:xfrm>
            <a:off x="5869372" y="4246513"/>
            <a:ext cx="271027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Scellement &amp; RH (Loi 53-05 + CGI)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669347" y="4420865"/>
            <a:ext cx="29102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Jeton HMAC-SHA256 · QR SVG vectoriel · garde-fou 403 vacataires · retenue IGR 17 % automatisée</a:t>
            </a:r>
            <a:endParaRPr lang="en-US" sz="800" dirty="0"/>
          </a:p>
        </p:txBody>
      </p:sp>
      <p:pic>
        <p:nvPicPr>
          <p:cNvPr id="46" name="Image 1" descr="/tmp/h2p-fit-1790069982996-2pzjy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491" y="100013"/>
            <a:ext cx="712477" cy="22860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8298693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2" descr="/tmp/h2p-fit-1790069982828-s81sz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62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530" y="3571875"/>
            <a:ext cx="216347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spc="-630" kern="0" dirty="0">
                <a:solidFill>
                  <a:srgbClr val="002E5B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5750" dirty="0"/>
          </a:p>
        </p:txBody>
      </p:sp>
      <p:sp>
        <p:nvSpPr>
          <p:cNvPr id="3" name="Text 1"/>
          <p:cNvSpPr/>
          <p:nvPr/>
        </p:nvSpPr>
        <p:spPr>
          <a:xfrm>
            <a:off x="457200" y="312539"/>
            <a:ext cx="1921579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4 · RÉALISATION #4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7561"/>
            <a:ext cx="86360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Écosystème IA — Copilote enseignant Gemini 1.5 Flash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80545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34045"/>
            <a:ext cx="3195265" cy="1595847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944761"/>
            <a:ext cx="3195265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48894" y="934045"/>
            <a:ext cx="0" cy="1595847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26320"/>
            <a:ext cx="319526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934045"/>
            <a:ext cx="0" cy="1595847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494" y="1012627"/>
            <a:ext cx="3066678" cy="1271588"/>
          </a:xfrm>
          <a:prstGeom prst="roundRect">
            <a:avLst>
              <a:gd name="adj" fmla="val 4494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/tmp/h2p-fit-1790069982446-g3hp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012627"/>
            <a:ext cx="3066678" cy="1271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494" y="2284214"/>
            <a:ext cx="3066678" cy="181384"/>
          </a:xfrm>
          <a:prstGeom prst="rect">
            <a:avLst/>
          </a:prstGeom>
          <a:noFill/>
          <a:ln/>
        </p:spPr>
        <p:txBody>
          <a:bodyPr wrap="square" lIns="28575" tIns="57150" rIns="28575" bIns="14288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Gemini 1.5 Flash Vision · analyse multimodale contextuelle</a:t>
            </a:r>
            <a:endParaRPr lang="en-US" sz="619" dirty="0"/>
          </a:p>
        </p:txBody>
      </p:sp>
      <p:sp>
        <p:nvSpPr>
          <p:cNvPr id="14" name="Text 11"/>
          <p:cNvSpPr/>
          <p:nvPr/>
        </p:nvSpPr>
        <p:spPr>
          <a:xfrm>
            <a:off x="457200" y="2601330"/>
            <a:ext cx="3195265" cy="1121011"/>
          </a:xfrm>
          <a:prstGeom prst="roundRect">
            <a:avLst>
              <a:gd name="adj" fmla="val 6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57200" y="2612045"/>
            <a:ext cx="3195265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48894" y="2601330"/>
            <a:ext cx="0" cy="1121011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718768"/>
            <a:ext cx="319526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0772" y="2601330"/>
            <a:ext cx="0" cy="1121011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0069" y="29796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735806" y="2990329"/>
            <a:ext cx="2823790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Tuteur IA RAG étudiant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0069" y="3136776"/>
            <a:ext cx="3009528" cy="32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Réponses ancrées exclusivement sur polycopiés · citations 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[Réf: Chapitre 3, Page 24 · Polycopié Pr. El Amrani]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mode quiz avec correction détaillée · élimine les hallucinations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3793778"/>
            <a:ext cx="3195265" cy="1121122"/>
          </a:xfrm>
          <a:prstGeom prst="roundRect">
            <a:avLst>
              <a:gd name="adj" fmla="val 6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57200" y="3804493"/>
            <a:ext cx="3195265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48894" y="3793778"/>
            <a:ext cx="0" cy="11211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4911328"/>
            <a:ext cx="319526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0772" y="3793778"/>
            <a:ext cx="0" cy="112112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0069" y="41741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735806" y="4184898"/>
            <a:ext cx="2823790" cy="131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Souveraineté des données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50069" y="4331345"/>
            <a:ext cx="3009528" cy="31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Loi 09-08 : identifiants sensibles (noms, CIN) strippés avant LLM · bascule mode heuristique local si API indisponible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995365" y="955477"/>
            <a:ext cx="1879387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piliers du Copilote Enseignant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809628" y="95547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3809628" y="1162645"/>
            <a:ext cx="4877172" cy="895201"/>
          </a:xfrm>
          <a:prstGeom prst="roundRect">
            <a:avLst>
              <a:gd name="adj" fmla="val 8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3809628" y="1166217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83228" y="1162645"/>
            <a:ext cx="0" cy="895201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809628" y="2054275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823915" y="1162645"/>
            <a:ext cx="0" cy="895201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38215" y="1478533"/>
            <a:ext cx="3170486" cy="13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Pilier 1 — Dictée vocale du cahier de texte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144420" y="1485677"/>
            <a:ext cx="15500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-6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/v1/professor/copilot/voice-textbook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3938215" y="1622747"/>
            <a:ext cx="4641428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Speech API → JSON normé (objectifs Bloom, résumé, devoirs, mots-clés)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809628" y="2114996"/>
            <a:ext cx="4877172" cy="895201"/>
          </a:xfrm>
          <a:prstGeom prst="roundRect">
            <a:avLst>
              <a:gd name="adj" fmla="val 8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3809628" y="2118568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83228" y="2114996"/>
            <a:ext cx="0" cy="895201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09628" y="3006626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823915" y="2114996"/>
            <a:ext cx="0" cy="895201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938215" y="2430884"/>
            <a:ext cx="3274740" cy="13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Pilier 2 — Auto-complétion émargement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248674" y="2438028"/>
            <a:ext cx="14374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-6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…/attendance-textbook-suggestion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3938215" y="2575099"/>
            <a:ext cx="4641428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Pré-remplissage contenu de séance selon syllabus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809628" y="3067348"/>
            <a:ext cx="4877172" cy="895201"/>
          </a:xfrm>
          <a:prstGeom prst="roundRect">
            <a:avLst>
              <a:gd name="adj" fmla="val 8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3809628" y="3070920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683228" y="3067348"/>
            <a:ext cx="0" cy="895201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809628" y="3958977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823915" y="3067348"/>
            <a:ext cx="0" cy="895201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938215" y="3383235"/>
            <a:ext cx="3484811" cy="13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Pilier 3 — Détecteur de décrochage (Art. 14)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7458745" y="3390379"/>
            <a:ext cx="11881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-6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…/attendance-risk-analysis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3938215" y="3527450"/>
            <a:ext cx="4641428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absences = alerte orange · ≥ 3 = rouge (exclusion) + recommandations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809628" y="4019699"/>
            <a:ext cx="4877172" cy="895201"/>
          </a:xfrm>
          <a:prstGeom prst="roundRect">
            <a:avLst>
              <a:gd name="adj" fmla="val 8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3809628" y="4023271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683228" y="4019699"/>
            <a:ext cx="0" cy="895201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809628" y="4911328"/>
            <a:ext cx="4877172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823915" y="4019699"/>
            <a:ext cx="0" cy="895201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938215" y="4335587"/>
            <a:ext cx="3659832" cy="13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Pilier 4 — Générateur d'épreuves PDF scellées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633767" y="4342730"/>
            <a:ext cx="10026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-6" kern="0" dirty="0">
                <a:solidFill>
                  <a:srgbClr val="C9A0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…/generate-exam-paper</a:t>
            </a:r>
            <a:endParaRPr lang="en-US" sz="600" dirty="0"/>
          </a:p>
        </p:txBody>
      </p:sp>
      <p:sp>
        <p:nvSpPr>
          <p:cNvPr id="63" name="Text 60"/>
          <p:cNvSpPr/>
          <p:nvPr/>
        </p:nvSpPr>
        <p:spPr>
          <a:xfrm>
            <a:off x="3938215" y="4479801"/>
            <a:ext cx="4641428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Études de cas marocaines (OCP, Attijariwafa…) · barème /20 · PDF scellé SHA-256</a:t>
            </a:r>
            <a:endParaRPr lang="en-US" sz="800" dirty="0"/>
          </a:p>
        </p:txBody>
      </p:sp>
      <p:pic>
        <p:nvPicPr>
          <p:cNvPr id="64" name="Image 1" descr="/tmp/h2p-fit-1790069982646-a3t08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491" y="100013"/>
            <a:ext cx="712477" cy="228600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8298693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6" name="Image 2" descr="/tmp/h2p-fit-1790069982596-h7c5m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62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530" y="3571875"/>
            <a:ext cx="2163470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spc="-630" kern="0" dirty="0">
                <a:solidFill>
                  <a:srgbClr val="002E5B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endParaRPr lang="en-US" sz="15750" dirty="0"/>
          </a:p>
        </p:txBody>
      </p:sp>
      <p:sp>
        <p:nvSpPr>
          <p:cNvPr id="3" name="Text 1"/>
          <p:cNvSpPr/>
          <p:nvPr/>
        </p:nvSpPr>
        <p:spPr>
          <a:xfrm>
            <a:off x="457200" y="283964"/>
            <a:ext cx="192979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CHAPITRE 4 · QUALITÉ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44698"/>
            <a:ext cx="863600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Stratégie de tests &amp; pipeline CI/CD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6471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879016"/>
            <a:ext cx="1993106" cy="606772"/>
          </a:xfrm>
          <a:prstGeom prst="roundRect">
            <a:avLst>
              <a:gd name="adj" fmla="val 12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89732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6734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82217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8644" y="971885"/>
            <a:ext cx="175021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-45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78644" y="1300497"/>
            <a:ext cx="175021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suites backend (Pest)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36031" y="879016"/>
            <a:ext cx="1993106" cy="606772"/>
          </a:xfrm>
          <a:prstGeom prst="roundRect">
            <a:avLst>
              <a:gd name="adj" fmla="val 12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36031" y="889732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5566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6031" y="1482217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9603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7475" y="971885"/>
            <a:ext cx="175021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-45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2657475" y="1300497"/>
            <a:ext cx="175021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 frontend (Vitest)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4863" y="879016"/>
            <a:ext cx="1993106" cy="606772"/>
          </a:xfrm>
          <a:prstGeom prst="roundRect">
            <a:avLst>
              <a:gd name="adj" fmla="val 12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14863" y="889732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4397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4863" y="1482217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8434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306" y="971885"/>
            <a:ext cx="175021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-45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4736306" y="1300497"/>
            <a:ext cx="1855232" cy="1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parcours E2E (Playwright)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3694" y="879016"/>
            <a:ext cx="1993106" cy="606772"/>
          </a:xfrm>
          <a:prstGeom prst="roundRect">
            <a:avLst>
              <a:gd name="adj" fmla="val 12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693694" y="889732"/>
            <a:ext cx="1993106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3228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3694" y="1482217"/>
            <a:ext cx="1993106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7266" y="879016"/>
            <a:ext cx="0" cy="606772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5138" y="971885"/>
            <a:ext cx="175021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-45" kern="0" dirty="0">
                <a:solidFill>
                  <a:srgbClr val="C9A0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543+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6815138" y="1300497"/>
            <a:ext cx="175021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5A6B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assertions · 100 % Green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2938" y="1600088"/>
            <a:ext cx="114662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Pyramide de tests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57200" y="16018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363" y="2513819"/>
            <a:ext cx="1428750" cy="457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059262" y="2574541"/>
            <a:ext cx="82495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b="1" spc="14" kern="0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E2E (Playwright)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1857375" y="2717416"/>
            <a:ext cx="1265587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parcours critiques : login, notes, PV public, guichet étudiant/admin, TAFEM</a:t>
            </a:r>
            <a:endParaRPr lang="en-US" sz="8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999594"/>
            <a:ext cx="2428875" cy="52863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713353" y="3096034"/>
            <a:ext cx="1516770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Fonctionnels &amp; Intégration (Pest)</a:t>
            </a:r>
            <a:endParaRPr lang="en-US" sz="675" dirty="0"/>
          </a:p>
        </p:txBody>
      </p:sp>
      <p:sp>
        <p:nvSpPr>
          <p:cNvPr id="41" name="Text 37"/>
          <p:cNvSpPr/>
          <p:nvPr/>
        </p:nvSpPr>
        <p:spPr>
          <a:xfrm>
            <a:off x="1357313" y="3238909"/>
            <a:ext cx="222885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 Finder (78) · ségrégation RH (30) · fiscalité IGR (29) · Copilote IA (32) · verrouillage optimiste (9) · schéma BDD (25)</a:t>
            </a:r>
            <a:endParaRPr lang="en-US" sz="8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8" y="3556806"/>
            <a:ext cx="3429000" cy="52863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1935420" y="3701467"/>
            <a:ext cx="1072634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675" b="1" spc="14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Unitaires (Pest / Vitest)</a:t>
            </a:r>
            <a:endParaRPr lang="en-US" sz="675" dirty="0"/>
          </a:p>
        </p:txBody>
      </p:sp>
      <p:sp>
        <p:nvSpPr>
          <p:cNvPr id="44" name="Text 39"/>
          <p:cNvSpPr/>
          <p:nvPr/>
        </p:nvSpPr>
        <p:spPr>
          <a:xfrm>
            <a:off x="1068660" y="3844342"/>
            <a:ext cx="280604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MoroccanLmdFormulasUnitTest (12 assertions BVA 6.99/7.00, 9.49/9.50) · store Zustand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457200" y="4838551"/>
            <a:ext cx="4029075" cy="15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27"/>
              </a:lnSpc>
              <a:buNone/>
            </a:pPr>
            <a:r>
              <a:rPr lang="en-US" sz="600" i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Principes ISTQB : BVA autour des seuils 7.00/10.00 · partitionnement d'équivalence · tests de concurrence</a:t>
            </a:r>
            <a:endParaRPr lang="en-US" sz="600" dirty="0"/>
          </a:p>
        </p:txBody>
      </p:sp>
      <p:sp>
        <p:nvSpPr>
          <p:cNvPr id="46" name="Text 41"/>
          <p:cNvSpPr/>
          <p:nvPr/>
        </p:nvSpPr>
        <p:spPr>
          <a:xfrm>
            <a:off x="4843463" y="1600088"/>
            <a:ext cx="2463576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GitHub Actions (branche )</a:t>
            </a:r>
            <a:endParaRPr lang="en-US" sz="844" dirty="0"/>
          </a:p>
        </p:txBody>
      </p:sp>
      <p:sp>
        <p:nvSpPr>
          <p:cNvPr id="47" name="Text 42"/>
          <p:cNvSpPr/>
          <p:nvPr/>
        </p:nvSpPr>
        <p:spPr>
          <a:xfrm>
            <a:off x="4657725" y="16018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266" dirty="0"/>
          </a:p>
        </p:txBody>
      </p:sp>
      <p:sp>
        <p:nvSpPr>
          <p:cNvPr id="48" name="Text 43"/>
          <p:cNvSpPr/>
          <p:nvPr/>
        </p:nvSpPr>
        <p:spPr>
          <a:xfrm>
            <a:off x="6613773" y="1596517"/>
            <a:ext cx="20730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E4A7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docker-v2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4657725" y="1817973"/>
            <a:ext cx="4029075" cy="861157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5"/>
          <p:cNvSpPr/>
          <p:nvPr/>
        </p:nvSpPr>
        <p:spPr>
          <a:xfrm>
            <a:off x="4657725" y="1821545"/>
            <a:ext cx="402907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8683228" y="1817973"/>
            <a:ext cx="0" cy="861157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4657725" y="2675558"/>
            <a:ext cx="402907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672013" y="1817973"/>
            <a:ext cx="0" cy="861157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786313" y="21129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5" name="Text 50"/>
          <p:cNvSpPr/>
          <p:nvPr/>
        </p:nvSpPr>
        <p:spPr>
          <a:xfrm>
            <a:off x="4972050" y="2107629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backend-tests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4786313" y="2275508"/>
            <a:ext cx="3793331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PHP 8.4 + PostgreSQL 16 → 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migrate --force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artisan test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142 suites · 543+ assertions</a:t>
            </a:r>
            <a:endParaRPr lang="en-US" sz="619" dirty="0"/>
          </a:p>
        </p:txBody>
      </p:sp>
      <p:sp>
        <p:nvSpPr>
          <p:cNvPr id="57" name="Text 52"/>
          <p:cNvSpPr/>
          <p:nvPr/>
        </p:nvSpPr>
        <p:spPr>
          <a:xfrm>
            <a:off x="4657725" y="2736279"/>
            <a:ext cx="4029075" cy="861157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3"/>
          <p:cNvSpPr/>
          <p:nvPr/>
        </p:nvSpPr>
        <p:spPr>
          <a:xfrm>
            <a:off x="4657725" y="2739851"/>
            <a:ext cx="402907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8683228" y="2736279"/>
            <a:ext cx="0" cy="861157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4657725" y="3593864"/>
            <a:ext cx="402907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4672013" y="2736279"/>
            <a:ext cx="0" cy="861157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4786313" y="30312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63" name="Text 58"/>
          <p:cNvSpPr/>
          <p:nvPr/>
        </p:nvSpPr>
        <p:spPr>
          <a:xfrm>
            <a:off x="4972050" y="3025936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frontend-quality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4786313" y="3193814"/>
            <a:ext cx="3793331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Node 20 → 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oxlint → vitest → build Vite · 17 tests frontend · build production</a:t>
            </a:r>
            <a:endParaRPr lang="en-US" sz="619" dirty="0"/>
          </a:p>
        </p:txBody>
      </p:sp>
      <p:sp>
        <p:nvSpPr>
          <p:cNvPr id="65" name="Text 60"/>
          <p:cNvSpPr/>
          <p:nvPr/>
        </p:nvSpPr>
        <p:spPr>
          <a:xfrm>
            <a:off x="4657725" y="3654586"/>
            <a:ext cx="4029075" cy="861157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1"/>
          <p:cNvSpPr/>
          <p:nvPr/>
        </p:nvSpPr>
        <p:spPr>
          <a:xfrm>
            <a:off x="4657725" y="3658158"/>
            <a:ext cx="402907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8683228" y="3654586"/>
            <a:ext cx="0" cy="861157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4657725" y="4512171"/>
            <a:ext cx="4029075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4672013" y="3654586"/>
            <a:ext cx="0" cy="861157"/>
          </a:xfrm>
          <a:prstGeom prst="line">
            <a:avLst/>
          </a:prstGeom>
          <a:noFill/>
          <a:ln w="28575">
            <a:solidFill>
              <a:srgbClr val="C9A063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4786313" y="39496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1" name="Text 66"/>
          <p:cNvSpPr/>
          <p:nvPr/>
        </p:nvSpPr>
        <p:spPr>
          <a:xfrm>
            <a:off x="4972050" y="3944243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2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800" dirty="0"/>
          </a:p>
        </p:txBody>
      </p:sp>
      <p:sp>
        <p:nvSpPr>
          <p:cNvPr id="72" name="Text 67"/>
          <p:cNvSpPr/>
          <p:nvPr/>
        </p:nvSpPr>
        <p:spPr>
          <a:xfrm>
            <a:off x="4786313" y="4112121"/>
            <a:ext cx="3793331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audit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audit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zéro vulnérabilité critique</a:t>
            </a:r>
            <a:endParaRPr lang="en-US" sz="800" dirty="0"/>
          </a:p>
        </p:txBody>
      </p:sp>
      <p:sp>
        <p:nvSpPr>
          <p:cNvPr id="73" name="Text 68"/>
          <p:cNvSpPr/>
          <p:nvPr/>
        </p:nvSpPr>
        <p:spPr>
          <a:xfrm>
            <a:off x="4657725" y="4572893"/>
            <a:ext cx="4029075" cy="370582"/>
          </a:xfrm>
          <a:prstGeom prst="roundRect">
            <a:avLst>
              <a:gd name="adj" fmla="val 15422"/>
            </a:avLst>
          </a:prstGeom>
          <a:solidFill>
            <a:srgbClr val="E0F2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69"/>
          <p:cNvSpPr/>
          <p:nvPr/>
        </p:nvSpPr>
        <p:spPr>
          <a:xfrm>
            <a:off x="4657725" y="4576465"/>
            <a:ext cx="4029075" cy="0"/>
          </a:xfrm>
          <a:prstGeom prst="line">
            <a:avLst/>
          </a:prstGeom>
          <a:noFill/>
          <a:ln w="7144">
            <a:solidFill>
              <a:srgbClr val="BFE5D1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683228" y="4572893"/>
            <a:ext cx="0" cy="370582"/>
          </a:xfrm>
          <a:prstGeom prst="line">
            <a:avLst/>
          </a:prstGeom>
          <a:noFill/>
          <a:ln w="7144">
            <a:solidFill>
              <a:srgbClr val="BFE5D1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4657725" y="4939903"/>
            <a:ext cx="4029075" cy="0"/>
          </a:xfrm>
          <a:prstGeom prst="line">
            <a:avLst/>
          </a:prstGeom>
          <a:noFill/>
          <a:ln w="7144">
            <a:solidFill>
              <a:srgbClr val="BFE5D1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4672013" y="4572893"/>
            <a:ext cx="0" cy="370582"/>
          </a:xfrm>
          <a:prstGeom prst="line">
            <a:avLst/>
          </a:prstGeom>
          <a:noFill/>
          <a:ln w="28575">
            <a:solidFill>
              <a:srgbClr val="1F8A57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4772025" y="465147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F8A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9" name="Text 74"/>
          <p:cNvSpPr/>
          <p:nvPr/>
        </p:nvSpPr>
        <p:spPr>
          <a:xfrm>
            <a:off x="4957763" y="4644330"/>
            <a:ext cx="3636169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45C3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Tous les jobs verts sur docker-v2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45C3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déploiement Docker déclenché automatiquement · caches Laravel préchauffés (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45C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config/route/view/event:cache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45C3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pic>
        <p:nvPicPr>
          <p:cNvPr id="80" name="Image 3" descr="/tmp/h2p-fit-1790069984353-zv30b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491" y="100013"/>
            <a:ext cx="712477" cy="228600"/>
          </a:xfrm>
          <a:prstGeom prst="rect">
            <a:avLst/>
          </a:prstGeom>
        </p:spPr>
      </p:pic>
      <p:sp>
        <p:nvSpPr>
          <p:cNvPr id="81" name="Text 75"/>
          <p:cNvSpPr/>
          <p:nvPr/>
        </p:nvSpPr>
        <p:spPr>
          <a:xfrm>
            <a:off x="8298693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2" name="Image 4" descr="/tmp/h2p-fit-1790069984327-nhovg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62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1780" y="3571875"/>
            <a:ext cx="1762220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spc="-630" kern="0" dirty="0">
                <a:solidFill>
                  <a:srgbClr val="002E5B">
                    <a:alpha val="4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∞</a:t>
            </a:r>
            <a:endParaRPr lang="en-US" sz="15750" dirty="0"/>
          </a:p>
        </p:txBody>
      </p:sp>
      <p:sp>
        <p:nvSpPr>
          <p:cNvPr id="3" name="Text 1"/>
          <p:cNvSpPr/>
          <p:nvPr/>
        </p:nvSpPr>
        <p:spPr>
          <a:xfrm>
            <a:off x="457200" y="283964"/>
            <a:ext cx="206175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 GÉNÉRALE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44698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Bilan &amp; perspectives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811820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954695"/>
            <a:ext cx="117606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objectifs atteints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9564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8" name="Text 6"/>
          <p:cNvSpPr/>
          <p:nvPr/>
        </p:nvSpPr>
        <p:spPr>
          <a:xfrm>
            <a:off x="457200" y="12011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657225" y="1194011"/>
            <a:ext cx="473351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O1 — Centralisation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: 37 modules · 134 tables · 12 rôles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0832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657225" y="1401180"/>
            <a:ext cx="473351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O2 — Automatisation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: délibération LMD · anti-conflits · Smart Room Finder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6154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657225" y="1608348"/>
            <a:ext cx="473351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O3 — Sécurité &amp; conformité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: SHA-256 · IGR 17 % · CNDP · Loi 53-05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8226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657225" y="1815517"/>
            <a:ext cx="473351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O4 — IA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: Copilote 4 piliers · RAG · OCR · orientation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0298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657225" y="2022686"/>
            <a:ext cx="473351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02E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O5 — Qualité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: zéro mock · verrouillage optimiste · 100 % tests Green CI/CD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279861"/>
            <a:ext cx="4933541" cy="7144"/>
          </a:xfrm>
          <a:prstGeom prst="rect">
            <a:avLst/>
          </a:prstGeom>
          <a:solidFill>
            <a:srgbClr val="C9A063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2938" y="2387017"/>
            <a:ext cx="1358969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Perspectives d'évolution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457200" y="23888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457200" y="2626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42938" y="2619189"/>
            <a:ext cx="4747803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mobile native (iOS/Android) via API existante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80492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42938" y="2797783"/>
            <a:ext cx="4747803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Signature électronique qualifiée (prestataire de confiance)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98352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42938" y="2976376"/>
            <a:ext cx="4747803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Big Data &amp; restitution MESRSFC temps réel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16211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42938" y="3154970"/>
            <a:ext cx="4747803" cy="15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Extension multi-établissements (modèle multi-tenant 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E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institution_id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3407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42938" y="3333564"/>
            <a:ext cx="4747803" cy="15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1F2A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 générative avancée : correction semi-automatique · plagiat · prévision réussite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514850"/>
            <a:ext cx="4933541" cy="428625"/>
          </a:xfrm>
          <a:prstGeom prst="roundRect">
            <a:avLst>
              <a:gd name="adj" fmla="val 17778"/>
            </a:avLst>
          </a:prstGeom>
          <a:solidFill>
            <a:srgbClr val="002E5B"/>
          </a:solidFill>
          <a:ln/>
          <a:effectLst>
            <a:outerShdw sx="100000" sy="100000" kx="0" ky="0" algn="bl" rotWithShape="0" blurRad="152400" dist="38100" dir="5400000">
              <a:srgbClr val="002E5B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8638" y="45720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9A0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585788" y="4600575"/>
            <a:ext cx="4676366" cy="257175"/>
          </a:xfrm>
          <a:prstGeom prst="rect">
            <a:avLst/>
          </a:prstGeom>
          <a:noFill/>
          <a:ln/>
        </p:spPr>
        <p:txBody>
          <a:bodyPr wrap="square" lIns="17145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E6ED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La transformation digitale de l'enseignement supérieur marocain exige des outils à la hauteur de ses ambitions. ENCG ERP relie rigueur académique, conformité juridique et IA au service de la communauté éducative. »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62191" y="940408"/>
            <a:ext cx="3124609" cy="1467259"/>
          </a:xfrm>
          <a:prstGeom prst="roundRect">
            <a:avLst>
              <a:gd name="adj" fmla="val 6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2E5B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562191" y="951123"/>
            <a:ext cx="3124609" cy="0"/>
          </a:xfrm>
          <a:prstGeom prst="line">
            <a:avLst/>
          </a:prstGeom>
          <a:noFill/>
          <a:ln w="21431">
            <a:solidFill>
              <a:srgbClr val="C9A0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3228" y="940408"/>
            <a:ext cx="0" cy="146725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62191" y="2404095"/>
            <a:ext cx="312460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65763" y="940408"/>
            <a:ext cx="0" cy="1467259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6484" y="1018989"/>
            <a:ext cx="2996022" cy="1143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0" descr="/tmp/h2p-fit-1790069984373-rpld4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484" y="1018989"/>
            <a:ext cx="2996022" cy="11430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626484" y="2161989"/>
            <a:ext cx="2996022" cy="181384"/>
          </a:xfrm>
          <a:prstGeom prst="rect">
            <a:avLst/>
          </a:prstGeom>
          <a:noFill/>
          <a:ln/>
        </p:spPr>
        <p:txBody>
          <a:bodyPr wrap="square" lIns="28575" tIns="57150" rIns="28575" bIns="14288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ENCG Fès — USMBA · Campus universitaire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62191" y="3252304"/>
            <a:ext cx="3581809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002E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Merci.</a:t>
            </a:r>
            <a:endParaRPr lang="en-US" sz="3600" dirty="0"/>
          </a:p>
        </p:txBody>
      </p:sp>
      <p:sp>
        <p:nvSpPr>
          <p:cNvPr id="43" name="Text 40"/>
          <p:cNvSpPr/>
          <p:nvPr/>
        </p:nvSpPr>
        <p:spPr>
          <a:xfrm>
            <a:off x="5562191" y="3780941"/>
            <a:ext cx="32808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18" kern="0" dirty="0">
                <a:solidFill>
                  <a:srgbClr val="C9A0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&amp; discussion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562191" y="4052404"/>
            <a:ext cx="342900" cy="21431"/>
          </a:xfrm>
          <a:prstGeom prst="roundRect">
            <a:avLst>
              <a:gd name="adj" fmla="val 88890"/>
            </a:avLst>
          </a:prstGeom>
          <a:solidFill>
            <a:srgbClr val="C9A0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5562191" y="4764881"/>
            <a:ext cx="3124609" cy="0"/>
          </a:xfrm>
          <a:prstGeom prst="line">
            <a:avLst/>
          </a:prstGeom>
          <a:noFill/>
          <a:ln w="7144">
            <a:solidFill>
              <a:srgbClr val="E1E7E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562191" y="4761309"/>
            <a:ext cx="3374578" cy="25436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5A6B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UPF · Stage PFE @ ENCG Fès — USMBA · 2025–2026</a:t>
            </a:r>
            <a:endParaRPr lang="en-US" sz="800" dirty="0"/>
          </a:p>
        </p:txBody>
      </p:sp>
      <p:pic>
        <p:nvPicPr>
          <p:cNvPr id="47" name="Image 1" descr="/tmp/h2p-fit-1790069984491-sbbh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491" y="100013"/>
            <a:ext cx="712477" cy="2286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298693" y="128588"/>
            <a:ext cx="7144" cy="171450"/>
          </a:xfrm>
          <a:prstGeom prst="rect">
            <a:avLst/>
          </a:prstGeom>
          <a:solidFill>
            <a:srgbClr val="C9A063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2" descr="/tmp/h2p-fit-1790069984459-9q7rf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62" y="100013"/>
            <a:ext cx="723863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2026-09-22T09:39:44Z</dcterms:created>
  <dcterms:modified xsi:type="dcterms:W3CDTF">2026-09-22T09:39:44Z</dcterms:modified>
</cp:coreProperties>
</file>